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April 7,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611880"/>
            <a:ext cx="50292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2024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Enabled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Report-Only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 trusted locations  •  19 PIM roles  •  6 auth strengths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Policies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7772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822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7520" y="868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Enabled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7772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822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868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Report-Only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7772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822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40880" y="868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1463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783080"/>
            <a:ext cx="402336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783080"/>
            <a:ext cx="36576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2240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Legacy authentication blocked for all users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6791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2679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Device code flow authentication blocked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118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Risk-based policies cover all levels (Low–High)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557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557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239 countries blocked via layered geo strategy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995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995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 trusted Canadian office IPs as MFA exclusions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783080"/>
            <a:ext cx="402336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783080"/>
            <a:ext cx="36576" cy="2926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2240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MFA allows SMS — phishable factor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6791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20640" y="2679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policies stuck in report-only mode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118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Phishing-resistant MFA not enforced for admins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557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20640" y="3557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standing Global Admin assignments (should be 0)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995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3995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Microsoft-managed policies disabled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DISTRIBUTION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737360" y="1097280"/>
            <a:ext cx="2909455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38255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1737360"/>
            <a:ext cx="969818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98618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2377440"/>
            <a:ext cx="692727" cy="36576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21527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105156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83280"/>
            <a:ext cx="10515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1480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Geolocation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27048" y="3383280"/>
            <a:ext cx="105156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27048" y="3383280"/>
            <a:ext cx="10515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527048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72768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MFA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Enforcement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88336" y="3383280"/>
            <a:ext cx="105156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88336" y="3383280"/>
            <a:ext cx="10515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2688336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734056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Risk-Based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9624" y="3383280"/>
            <a:ext cx="105156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9624" y="3383280"/>
            <a:ext cx="10515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849624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895344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10912" y="3383280"/>
            <a:ext cx="105156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10912" y="3383280"/>
            <a:ext cx="105156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056632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Device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72200" y="3383280"/>
            <a:ext cx="105156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383280"/>
            <a:ext cx="10515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217920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33488" y="3383280"/>
            <a:ext cx="105156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33488" y="3383280"/>
            <a:ext cx="105156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7333488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379208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Microsoft-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Layered Defense-in-Depth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E293B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36576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05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63040" y="987552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064E3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9875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1234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Block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4630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"Geolocation - Main policy" blocks 239 countries. Only CA, US, IN, NL, PH, CR, UK, GR, BR, CO, IR allowed.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84124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11680"/>
            <a:ext cx="36576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57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Blocks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(CO)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91640" y="2560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3172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(DE)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20440" y="2560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6052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(IN)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9240" y="2560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8932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(NL)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78040" y="2560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(CR)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91640" y="2788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331720" y="2788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(IE)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20440" y="2788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60520" y="2788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(PH)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49240" y="2788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89320" y="2788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(GB)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78040" y="2788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2920" y="3017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91640" y="3017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3337560"/>
            <a:ext cx="84124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337560"/>
            <a:ext cx="36576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3611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Office Networks (MFA Exclusion Zones)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47472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40880" y="3657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3886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 named locations across Canada and UK. London, Calgary, Lachine, Winnipeg, Weston, Brampton, Kingston, and more.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Note: US geo block remains in report-only since Sep 2024 (18+ months). India and Netherlands blocks exclude specific vendor/partner groups.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Enforcement Matrix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  <a:gridCol w="91440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Strength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Standard to all users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users (10+ group excl.)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Built-in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15 days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Trusted IPs + 4 offices excl.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All Administrators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Global Admin, Security Admin + 7 more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Built-in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 days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locations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Passwordless for Admins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10+ admin groups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Passwordless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 days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 apps excluded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Fortigate SSL VPN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users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Built-in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 days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Excl. all trusted locations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Fortinet Cloud VPN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10+ specific groups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Built-in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Every time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 Fortinet apps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PIM Role Activation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users (auth context c1)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Passwordless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Every time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Excl. company devices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Register or Join Devices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users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Built-in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—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Excl. Workspot-POC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023360"/>
            <a:ext cx="3657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0690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MFA for Admins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3434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Allows deviceBasedPush only. Strong but not phishing-resistant — consider upgrading to WHfB/FIDO2.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Protection &amp; Risk-Based Policies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468880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24688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User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Risky Users - 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Password Change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80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044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2024-11-19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822960"/>
            <a:ext cx="2468880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822960"/>
            <a:ext cx="2468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&amp; Medium User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Risky Users - Low/Med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1645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120" y="1810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MFA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2057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46120" y="2221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468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4612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2880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46120" y="3044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2024-12-23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822960"/>
            <a:ext cx="2468880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82296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Sign-in Risk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Risky Sign-in 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1645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89320" y="1810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MFA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2057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89320" y="2221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2468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8932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2880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89320" y="3044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2024-12-23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794760"/>
            <a:ext cx="36576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886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Coverage — All user risk and sign-in risk levels protected. High-risk users must change password.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Strength Policies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87452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1874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MFA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37160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01168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6888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65176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deviceBasedPush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3832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Used by admin MFA + PIM activation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777240"/>
            <a:ext cx="187452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777240"/>
            <a:ext cx="1874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2532888" y="96012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(FIDO2)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32888" y="137160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0E3B4E"/>
          </a:solidFill>
          <a:ln/>
        </p:spPr>
      </p:sp>
      <p:sp>
        <p:nvSpPr>
          <p:cNvPr id="19" name="Text 17"/>
          <p:cNvSpPr/>
          <p:nvPr/>
        </p:nvSpPr>
        <p:spPr>
          <a:xfrm>
            <a:off x="2532888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182880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2888" y="201168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Built-in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32888" y="246888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2888" y="265176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FIDO2 security keys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32888" y="33832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Restricted to approved authenticators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777240"/>
            <a:ext cx="187452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777240"/>
            <a:ext cx="18745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590288" y="96012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MFA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90288" y="137160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7F1D1D"/>
          </a:solidFill>
          <a:ln/>
        </p:spPr>
      </p:sp>
      <p:sp>
        <p:nvSpPr>
          <p:cNvPr id="29" name="Text 27"/>
          <p:cNvSpPr/>
          <p:nvPr/>
        </p:nvSpPr>
        <p:spPr>
          <a:xfrm>
            <a:off x="4590288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90288" y="182880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90288" y="201168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90288" y="246888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90288" y="265176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WHfB, deviceBasedPush, password+push, SMS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90288" y="33832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SMS is phishable — remove it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37960" y="777240"/>
            <a:ext cx="187452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777240"/>
            <a:ext cx="1874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6647688" y="96012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MFA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47688" y="137160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0E3B4E"/>
          </a:solidFill>
          <a:ln/>
        </p:spPr>
      </p:sp>
      <p:sp>
        <p:nvSpPr>
          <p:cNvPr id="39" name="Text 37"/>
          <p:cNvSpPr/>
          <p:nvPr/>
        </p:nvSpPr>
        <p:spPr>
          <a:xfrm>
            <a:off x="6647688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47688" y="182880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47688" y="201168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Built-in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47688" y="246888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47688" y="265176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WHfB, FIDO2, x509 Multi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47688" y="33832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 standard — not yet enforced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— PIM Role Coverage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Cross-referencing PIM role assignments against Conditional Access policy targeting.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640080"/>
                <a:gridCol w="310896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 Role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Policy Coverage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All Admins, Passwordless, PIM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All Admins, PIM Activation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PIM Activation (auth context)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PIM Activation (auth context)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All Admins, PIM Activation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Intune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PIM Activation (auth context)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PIM Activation (auth context)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PIM Activation (auth context)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Helpdesk Administrator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PIM Activation (auth context)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Reader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Not directly targeted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"Partial" = covered only via PIM auth context (c1), not by role-targeted CA policy. Global Reader has 5 active assignments with no direct CA coverage.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Policies Under Evaluation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828800"/>
                <a:gridCol w="100584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Apps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Protection Policy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Token protection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Exchange + SharePoint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Securing security info registration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Require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Security info registration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Auth Transfer - All Dir. Roles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Block access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cloud apps (admin)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Azure Portals to Standard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Block access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MS Admin Portals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United States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Block access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cloud apps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2024-09-09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- India vendors/partners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Require MFA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All cloud apps (IN)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BYOD Pilot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MFA+Compliant+App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Office 365 (Android/iOS)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46120"/>
            <a:ext cx="8412480" cy="118872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3246120"/>
            <a:ext cx="36576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375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657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3 priorities have been in report-only since August 2025 (8+ months). Token protection and auth transfer blocking directly mitigate AiTM phishing and session hijacking. Recommend enforcement after log review.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Microsoft-Managed Policies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Overlap Analysis — All 5 auto-created policies are disabled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10312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MS-Managed Policy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Equivalent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for admins at Admin Portals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for 10+ admin roles at Admin Portals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All Administrators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device code 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Block device code flow for all users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Block Device Code Flow Auth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for per-user MFA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Built-in MFA strength for 10 users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MFA - Standard to all users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legacy authentication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Block Exchange ActiveSync + Other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Block Legacy Authentication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Phishing-resistant MFA for admins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WHfB, FIDO2, x509 for admin roles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 custom equivalent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880360"/>
            <a:ext cx="8412480" cy="137160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2880360"/>
            <a:ext cx="36576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971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3375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custom policy enforces phishing-resistant MFA (WHfB/FIDO2/x509) for admin roles. The "Passwordless MFA for Admins" custom strength only allows deviceBasedPush — which is passwordless but not phishing-resistant. Consider enabling the MS-managed policy or creating a custom equivalent.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 &amp; Recommendations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7F1D1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36576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704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phishing-resistant MFA for admin roles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36576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361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SMS from Custom MFA authentication strength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74520"/>
            <a:ext cx="36576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01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token protection for Exchange and SharePoint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78350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651760"/>
            <a:ext cx="3657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6791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authentication transfer for admin roles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017520"/>
            <a:ext cx="3657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044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standing Global Admin assignments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383280"/>
            <a:ext cx="3657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107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 policy targeting Global Reader role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840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416052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160520"/>
            <a:ext cx="36576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87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US geolocation block (18+ months in report-only)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526280"/>
            <a:ext cx="813816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526280"/>
            <a:ext cx="36576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5537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device code flow block to all users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 Matrix (1/2)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4206240"/>
                <a:gridCol w="1188720"/>
                <a:gridCol w="822960"/>
                <a:gridCol w="96012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Modified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Colombia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2025-12-01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- Fortinet Cloud VPN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2025-11-20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- Passwordless for Admins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2025-11-14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Main policy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2025-11-13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Fortigate SSL VPN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2025-10-07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- Standard to all users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2025-10-07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- All Administrators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2025-09-23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Device Code Flow Authentication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2025-06-26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Germany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2025-06-02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- Register or Join Devices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2025-05-13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- PIM Role Activation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2025-05-08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Risky Sign-in Users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2024-12-23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Risky Users - Low and Medium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2024-12-23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Legacy Authentication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2024-12-15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Risky Users - 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2024-11-19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India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2023-11-14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Netherlands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2023-11-08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Costa Rica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 Matrix (2/2)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4206240"/>
                <a:gridCol w="1188720"/>
                <a:gridCol w="822960"/>
                <a:gridCol w="96012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Modified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Ireland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Philippines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United Kingdom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- Block Microsoft/Azure Portals to Standard Users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REPORT-ONLY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- Token Protection Policy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REPORT-ONLY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- Securing security info registration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REPORT-ONLY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- Block Authentication Transfer - All Directory Roles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REPORT-ONLY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 - United States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REPORT-ONLY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2024-09-09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- All India based vendors and partners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REPORT-ONLY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Android_BYOD_Pilot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REPORT-ONLY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Microsoft-managed: Multifactor authentication for admins accessing Microsoft Admin Portals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2025-06-23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Microsoft-managed: Block device code flow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2025-06-23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Microsoft-managed: Multifactor authentication for per-user multifactor authentication users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2024-08-15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Microsoft-managed: Block legacy authentication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Microsoft-managed: Require phishing-resistant multifactor authentication for admins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Policies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 policies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03420" y="31089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Colombia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2025-12-01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- Fortinet Cloud VPN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2025-11-20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Groups: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- Passwordless for Admins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2025-11-14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Groups: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strength: Passwordless MFA for Admins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3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Main policy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2025-11-13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4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SSL VPN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2025-10-07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locations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app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5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- Standard to all users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2025-10-07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locations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Exchange ActiveSync, Br…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Roles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apps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6 of 33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- All Administrators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2025-09-23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locations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Roles: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7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Device Code Flow Authentication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2025-06-26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Groups: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8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Germany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2025-06-02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9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- Register or Join Devices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2025-05-13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locations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Register or join devices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10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- PIM Role Activation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2025-05-08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strength: Passwordless MFA for Admins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ctx: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11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Risky Sign-in Users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2024-12-23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12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Risky Users - Low and Medium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2024-12-23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13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Legacy Authentication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2024-12-15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14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Risky Users - High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2024-11-19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all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15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India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2023-11-14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16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Netherlands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2023-11-08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17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Costa Rica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18 of 33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Ireland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19 of 33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Philippines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20 of 33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United Kingdom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21 of 33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 Policies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policies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03420" y="310896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- Block Microsoft/Azure Portals to Standard Users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2025-08-07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Roles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Admin Portals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22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- Token Protection Policy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2025-08-05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Office 365 Exchange Online, Microsoft SharePoint Online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23 of 33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- Securing security info registration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2025-08-05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locations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Roles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Register security info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24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- Block Authentication Transfer - All Directory Roles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2025-08-05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Roles: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25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- United States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2024-09-09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Groups (excl):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objects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26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- All India based vendors and partners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named location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Groups: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27 of 33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Android_BYOD_Pilot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all of the following: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Office 365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28 of 33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Policies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policies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03420" y="31089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Microsoft-managed: Multifactor authentication for admins accessing Microsoft Admin Portals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2025-06-23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Roles: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Admin Portals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29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Microsoft-managed: Block device code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2025-06-23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30 of 33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Microsoft-managed: Multifactor authentication for per-user multifactor authentication users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Modified: 2024-08-15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locations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24128"/>
            <a:ext cx="27432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client apps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strength: Multifactor authentication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31 of 33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Microsoft-managed: Block legacy authentication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users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Authentication strength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32 of 33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Microsoft-managed: Require phishing-resistant multifactor authentication for admins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8912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029968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03120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94176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67328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358384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31536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7022592" y="1024128"/>
            <a:ext cx="1572768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042416"/>
            <a:ext cx="1435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95744" y="1179576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configured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657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Exclude: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object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Roles: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objects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18745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057400"/>
            <a:ext cx="2651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CONTROLS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468880" y="2286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of the following: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68880" y="24688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33472" y="24688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Multifactor authentication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468880" y="26517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●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33472" y="26517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strength: Phishing-resistant MFA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8346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334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Compliant device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301752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472" y="30175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Azure AD joined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320040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3472" y="32004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client app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68880" y="338328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33832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protection policy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468880" y="35661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33472" y="35661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68880" y="374904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○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633472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Terms of use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66360" y="1463040"/>
            <a:ext cx="1828800" cy="178536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66360" y="1463040"/>
            <a:ext cx="27432" cy="178536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5257800" y="1508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39512" y="1709928"/>
            <a:ext cx="1682496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cloud apps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66360" y="3321558"/>
            <a:ext cx="1828800" cy="138760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9512" y="336727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39512" y="357759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367528" y="357759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239512" y="373303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67528" y="373303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9512" y="3888486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367528" y="388848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239512" y="404393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67528" y="404393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39512" y="4199382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67528" y="419938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39512" y="435483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367528" y="435483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39512" y="451027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○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67528" y="451027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36576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33 of 33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35040" y="48691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2026-04-07</a:t>
            </a:r>
            <a:endParaRPr lang="en-US" sz="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Assessment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0" y="246888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78350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with critical improvements needed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high-priority items  •  3 medium-priority items  •  2 low-priority items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gap: No phishing-resistant MFA enforced for privileged roles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 policies  •  21 enabled  •  7 report-only  •  5 disabled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4160520"/>
            <a:ext cx="3657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519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Generated: April 7, 2026  |  Data: CA Policies, PIM, Named Locations, Auth Strength, Role Definitions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Review: Q3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Policies - Security Posture Report v4</dc:title>
  <dc:subject>PptxGenJS Presentation</dc:subject>
  <dc:creator>CA Documenter</dc:creator>
  <cp:lastModifiedBy>CA Documenter</cp:lastModifiedBy>
  <cp:revision>1</cp:revision>
  <dcterms:created xsi:type="dcterms:W3CDTF">2026-04-08T03:25:59Z</dcterms:created>
  <dcterms:modified xsi:type="dcterms:W3CDTF">2026-04-08T03:25:59Z</dcterms:modified>
</cp:coreProperties>
</file>