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389120" cy="43891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011680"/>
            <a:ext cx="3474720" cy="34747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32688"/>
            <a:ext cx="59436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Access Security Posture Report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4048" y="2624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243A5A">
              <a:alpha val="85000"/>
            </a:srgbClr>
          </a:solidFill>
          <a:ln w="3175">
            <a:solidFill>
              <a:srgbClr val="24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65376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0B3A35">
              <a:alpha val="85000"/>
            </a:srgbClr>
          </a:solidFill>
          <a:ln w="3175">
            <a:solidFill>
              <a:srgbClr val="0B3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65376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46704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B3812">
              <a:alpha val="85000"/>
            </a:srgbClr>
          </a:solidFill>
          <a:ln w="3175">
            <a:solidFill>
              <a:srgbClr val="4B38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46704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28032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F1E2A">
              <a:alpha val="85000"/>
            </a:srgbClr>
          </a:solidFill>
          <a:ln w="3175">
            <a:solidFill>
              <a:srgbClr val="4F1E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28032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is structured for executive decisions first, evidence second, appendix last.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18872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Posture Snapshot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score, trend signal, and policy status distribution.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Scorecard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 mix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Assessment summary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36576" cy="123444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Immediate Priorities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actions that reduce risk quickly in the next quarter.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Top priorities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- 90-day roadmap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606040"/>
            <a:ext cx="36576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Supporting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evidence across MFA, risk, geography, and privileged access.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Control evidence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overlap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Recommendation detail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6300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60604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6028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Appendix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6028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inventory and per-policy detail for audit and implementation.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6028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matrix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Policy-level breakdown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Posture Scorecard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posture combines policy enforcement state and current recommendation backlog.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1521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5488" y="215798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posture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243A5A"/>
          </a:solidFill>
          <a:ln w="6350">
            <a:solidFill>
              <a:srgbClr val="24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260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policies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0B3A35"/>
          </a:solidFill>
          <a:ln w="6350">
            <a:solidFill>
              <a:srgbClr val="0B3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978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346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9260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F1E2A"/>
          </a:solidFill>
          <a:ln w="6350">
            <a:solidFill>
              <a:srgbClr val="4F1E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8978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154680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2186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392424"/>
            <a:ext cx="8156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- improvement actions required. 2 high | 2 medium | 1 low Critical gap: Phishing-resistant MFA is not consistently enforced for privileged roles.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+ takeaway + evidence format is used across all sections.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2743200"/>
          </a:xfrm>
          <a:prstGeom prst="rect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authentication is blocked for all users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Legacy authentication is blocked for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Risk-driven controls cover high user and sign-in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policies consistently require MFA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97280"/>
            <a:ext cx="36576" cy="274320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report-only controls are older than six months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Three report-only controls are older than six months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MFA is not phishing-resistant in all paths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Two Microsoft-managed controls have no custom equivalent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Priorities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actions represent the highest leverage improvements for the next review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methods for privileged roles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admin policy allows standard MFA methods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192024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92024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98424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token protection control from report-only to enabled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220370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has been report-only since 2025-08-05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274320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743200"/>
            <a:ext cx="36576" cy="731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80720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Microsoft-managed overlap gaps with custom controls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" y="302666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overlap rows are marked as Gap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Roadmap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items are immediate risk reducers. Mid-term items sustain posture improvements.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3017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actions (0-45 days)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first to reduce active exposure and remove stale report-only controls.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Enable token protection for Exchange and SharePoint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Move privileged role MFA to phishing-resistant strength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097280"/>
            <a:ext cx="36576" cy="3017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Mid-term actions (45-90 days)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actions to harden role coverage and simplify policy operations.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Close remaining Microsoft-managed overlap gaps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Reduce standing active assignments in privileged roles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Analysis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evidence and policy-level detail that supports the executive narrative.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651760"/>
            <a:ext cx="3566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landscape | Geo strategy | MFA matrix | Risk controls | Auth strengths | PIM | Report-only | MS-managed overlap |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Landscape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12 policies are enforced. 3 remain in report-only mode.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report-only conversions in parallel with high-severity gaps.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435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18488" y="1453896"/>
            <a:ext cx="2400300" cy="155448"/>
          </a:xfrm>
          <a:prstGeom prst="roundRect">
            <a:avLst>
              <a:gd name="adj" fmla="val 11765"/>
            </a:avLst>
          </a:prstGeom>
          <a:solidFill>
            <a:srgbClr val="22D3A6"/>
          </a:solidFill>
          <a:ln w="1270">
            <a:solidFill>
              <a:srgbClr val="22D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1940" y="1435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17739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18488" y="1792224"/>
            <a:ext cx="1028700" cy="155448"/>
          </a:xfrm>
          <a:prstGeom prst="roundRect">
            <a:avLst>
              <a:gd name="adj" fmla="val 11765"/>
            </a:avLst>
          </a:prstGeom>
          <a:solidFill>
            <a:srgbClr val="FBBF24"/>
          </a:solidFill>
          <a:ln w="127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0340" y="1773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21122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18488" y="2130552"/>
            <a:ext cx="685800" cy="155448"/>
          </a:xfrm>
          <a:prstGeom prst="roundRect">
            <a:avLst>
              <a:gd name="adj" fmla="val 11765"/>
            </a:avLst>
          </a:prstGeom>
          <a:solidFill>
            <a:srgbClr val="FF5D6C"/>
          </a:solidFill>
          <a:ln w="1270">
            <a:solidFill>
              <a:srgbClr val="FF5D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112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Geolocation Blocks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14116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4116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3844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 Enforcement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23844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44184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4184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Policies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Blocking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14116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4116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23844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and Session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23844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44184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44184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53912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Microsoft-managed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53912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Strategy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geolocation layers are active in the tenant posture.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country-specific policy is still report-only.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1 - Catch-all geo block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policy blocks non-approved countries and allows corporate regions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542032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42032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60604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2 - Country-specific overlays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82549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A (Enabled), Country B (Report-only)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648456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648456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71246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3 - Trusted office location exclusions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393192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office locations are excluded from some MFA challenges.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169664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- 18 trusted locations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Enforcement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MFA policy entries were analyzed for scope and control strength.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report-only MFA policies have transition plans to enforcement.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914400"/>
                <a:gridCol w="21945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 strength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Frequency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Conditions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Trusted locations excluded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locations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Remote workforce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secure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 sign-in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VPN and high-value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MFA posture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roles should move from standard MFA to phishing-resistant methods.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Risk Policies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risk-focused policies were mapped to user and sign-in conditions.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users and high-risk sign-ins should have explicit enforcement and recovery paths.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user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Users - 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MFA + Password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ALL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2024-11-19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sign-in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Sign-ins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Require MFA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2025-01-10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4069080"/>
            <a:ext cx="8375904" cy="594360"/>
          </a:xfrm>
          <a:prstGeom prst="roundRect">
            <a:avLst>
              <a:gd name="adj" fmla="val 6154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41330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takeaway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306824"/>
            <a:ext cx="8156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controls are present but privileged user coverage can be tightened.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Strengths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authentication strengths were evaluated for resistance and deployability.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phishable factors from admin-facing strengths and map each strength to policy scope.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Passwordless Admin (Strongest)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fido2, windowsHelloForBusiness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Recommended baseline for privileged roles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Workforce (Strong)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Built-in | Methods: authenticatorPush, softwareOath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General user coverage is adequate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907792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907792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971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Exception (Weak)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" y="31912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sms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4290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Should be retired from admin-facing flows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Privileged Access Coverage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privileged roles were compared against Conditional Access targeting.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without direct policy coverage should be prioritized in roadmap planning.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011680"/>
                <a:gridCol w="685800"/>
                <a:gridCol w="685800"/>
                <a:gridCol w="397764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role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Eligible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 coverage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Privileged Role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auth context 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direct role-targeted policy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note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means role coverage is indirect through shared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 Pipeline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report-only entries require staged conversion plans.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priority and staleness to define conversion waves.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240280"/>
                <a:gridCol w="1463040"/>
                <a:gridCol w="2011680"/>
                <a:gridCol w="109728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 control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 apps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Exchange + SharePoint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constraint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access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+ Compliant device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focus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High-priority report-only items should move into staged enforcement this quarter.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Microsoft-managed Overlap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auto-created policies were mapped against custom equivalents.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overlap marked as Gap should move into the high-priority backlog.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331720"/>
                <a:gridCol w="2468880"/>
                <a:gridCol w="251460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MS-managed 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does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equivalent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Overlap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MFA for core admin roles in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phishing-resistant methods for 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custom equivalent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legacy authentication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Blocks legacy protocols for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gap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fully equivalent custom policy enforces phishing-resistant admin MFA.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Inventory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recommendation items were grouped by severity for implementation planning.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near-term delivery from the High group and keep Medium on a dated transition plan.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MFA for privileged roles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1965960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965960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02996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24942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token protection controls for core workloads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2496312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496312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56032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277977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stale report-only controls with staged rollout windows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026664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026664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090672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" y="3310128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direct CA targeting for uncovered privileged roles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557016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557016"/>
            <a:ext cx="36576" cy="4937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62102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priority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" y="384048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 low-value legacy exceptions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17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43E"/>
          </a:solidFill>
          <a:ln w="12700">
            <a:solidFill>
              <a:srgbClr val="13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inventory and detail are separated from the executive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Policy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policies are listed with state, action, scope summary, and modified date.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appendix inventory is optimized for export and audit reference.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2980944"/>
          </a:xfrm>
          <a:prstGeom prst="roundRect">
            <a:avLst>
              <a:gd name="adj" fmla="val 61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2907792"/>
        </p:xfrm>
        <a:graphic>
          <a:graphicData uri="http://schemas.openxmlformats.org/drawingml/2006/table">
            <a:tbl>
              <a:tblPr/>
              <a:tblGrid>
                <a:gridCol w="320040"/>
                <a:gridCol w="2468880"/>
                <a:gridCol w="868680"/>
                <a:gridCol w="685800"/>
                <a:gridCol w="301752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summary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2025-03-04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2025-04-18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2025-06-01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Users - 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2024-11-19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Sign-ins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2025-01-10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Geolocation catch-all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2025-02-14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 registration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2025-05-20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Office 365 Exchange Online, Mic...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Groups: Mobile Workforce, Apps: 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Require 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 authentication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2025-03-04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70986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exchangeActiveSync, other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240487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" y="240487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users: Break glass account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 of 12 | ID p-001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All users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2025-04-18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0986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browser, mobileAppsAndDesktopClients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240487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240487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groups: Service Accounts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14 days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431536" y="3474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47472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027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0273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307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8587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8587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39867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1148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1148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431536" y="4242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614416" y="42428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2 of 12 | ID p-002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Privileged roles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2025-06-01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locations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7 days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474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7472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027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0273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7307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8587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8587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867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1148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1148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431536" y="4242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614416" y="42428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3 of 12 | ID p-003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Users - High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2024-11-19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4 of 12 | ID p-004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Sign-ins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2025-01-10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5 of 12 | ID p-005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catch-all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2025-02-14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| excl: CA, US, +1 more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6 of 12 | ID p-006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registration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2025-05-20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Actions: registerOrJoinDevices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7 of 12 | ID p-007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protection rollout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2025-08-05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windows, macOS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14600" y="41148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697480" y="41148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 Exchange Online, Microsoft SharePoint Online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8 of 12 | ID p-008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portal geo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2025-09-02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9 of 12 | ID p-009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BYOD pilot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2026-01-16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44752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android, iOS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groups: Mobile Workforce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8 hours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474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7472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027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0273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7307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8587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8587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867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1148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1148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431536" y="4242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614416" y="42428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10 of 12 | ID p-010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Phishing-resistant MFA for admins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11 of 12 | ID p-011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 MFA for admins at admin portals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12 of 12 | ID p-012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Northwind Trading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Security Posture Report</dc:title>
  <dc:subject>Conditional Access posture analysis</dc:subject>
  <dc:creator>CA Documenter</dc:creator>
  <cp:lastModifiedBy>CA Documenter</cp:lastModifiedBy>
  <cp:revision>1</cp:revision>
  <dcterms:created xsi:type="dcterms:W3CDTF">2026-04-10T01:58:42Z</dcterms:created>
  <dcterms:modified xsi:type="dcterms:W3CDTF">2026-04-10T01:58:42Z</dcterms:modified>
</cp:coreProperties>
</file>