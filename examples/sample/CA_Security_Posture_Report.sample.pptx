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Slide-17-image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84048" y="932688"/>
            <a:ext cx="594360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Security Posture Report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84048" y="26243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84048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905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84048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Policies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65376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419350000" dist="645160000" dir="324000000000">
              <a:srgbClr val="000000">
                <a:alpha val="45000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65376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65376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346704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0725745000000" dist="8193532000000" dir="19440000000000000">
              <a:srgbClr val="000000">
                <a:alpha val="45000000000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46704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46704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28032" y="3977640"/>
            <a:ext cx="1353312" cy="822960"/>
          </a:xfrm>
          <a:prstGeom prst="roundRect">
            <a:avLst>
              <a:gd name="adj" fmla="val 888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90216961500000000" dist="104057856400000000" dir="1.1664e+21">
              <a:srgbClr val="000000">
                <a:alpha val="450000000000000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28032" y="40690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828032" y="4425696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report is structured for executive decisions first, evidence second, appendix last.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18872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4.95575541105e+21" dist="1.32153477628e+21" dir="6.9984e+25">
              <a:srgbClr val="000000">
                <a:alpha val="4.5e+2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18872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125272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Posture Snapshot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" y="147218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score, trend signal, and policy status distribution.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70992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Scorecard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State mix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Assessment summary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86300" y="118872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6.2938093720335e+25" dist="1.6783491658756e+25" dir="4.19904e+30">
              <a:srgbClr val="000000">
                <a:alpha val="4.5e+2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86300" y="118872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6028" y="125272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Immediate Priorities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96028" y="147218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actions that reduce risk quickly in the next quarter.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96028" y="170992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Top priorities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- 90-day roadmap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84048" y="260604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7.993137902482544e+29" dist="2.1315034406620118e+29" dir="2.519424e+35">
              <a:srgbClr val="000000">
                <a:alpha val="4.5e+34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" y="260604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" y="267004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Supporting Analysis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" y="288950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evidence across MFA, risk, geography, and privileged access.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" y="312724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Control evidence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Policy overlap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Recommendation detail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6300" y="2606040"/>
            <a:ext cx="4073652" cy="1234440"/>
          </a:xfrm>
          <a:prstGeom prst="roundRect">
            <a:avLst>
              <a:gd name="adj" fmla="val 5926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.0151285136152832e+34" dist="2.707009369640755e+33" dir="1.5116544e+40">
              <a:srgbClr val="000000">
                <a:alpha val="4.5e+39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86300" y="2606040"/>
            <a:ext cx="54864" cy="123444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96028" y="267004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Appendix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96028" y="288950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inventory and per-policy detail for audit and implementation.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96028" y="3127248"/>
            <a:ext cx="38541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Policy matrix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Policy-level breakdown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Posture Scorecard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 posture combines policy enforcement state and current recommendation backlog.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2194560" cy="1828800"/>
          </a:xfrm>
          <a:prstGeom prst="roundRect">
            <a:avLst>
              <a:gd name="adj" fmla="val 4000"/>
            </a:avLst>
          </a:prstGeom>
          <a:solidFill>
            <a:srgbClr val="78350F">
              <a:alpha val="30000"/>
            </a:srgbClr>
          </a:solidFill>
          <a:ln w="12700">
            <a:solidFill>
              <a:srgbClr val="78350F"/>
            </a:solidFill>
            <a:prstDash val="solid"/>
          </a:ln>
          <a:effectLst>
            <a:outerShdw sx="100000" sy="100000" kx="0" ky="0" algn="bl" rotWithShape="0" blurRad="1.2892132122914096e+38" dist="3.437901899443759e+37" dir="9.069926400000001e+44">
              <a:srgbClr val="000000">
                <a:alpha val="4.5e+44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" y="1152144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75488" y="215798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Stable posture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34640" y="10972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.6373007796100903e+42" dist="4.366135412293574e+41" dir="5.44195584e+49">
              <a:srgbClr val="000000">
                <a:alpha val="4.5e+49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926080" y="115214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926080" y="157459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policies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06440" y="10972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064E3B">
              <a:alpha val="30000"/>
            </a:srgbClr>
          </a:solidFill>
          <a:ln w="12700">
            <a:solidFill>
              <a:srgbClr val="064E3B"/>
            </a:solidFill>
            <a:prstDash val="solid"/>
          </a:ln>
          <a:effectLst>
            <a:outerShdw sx="100000" sy="100000" kx="0" ky="0" algn="bl" rotWithShape="0" blurRad="2.0793719901048148e+46" dist="5.544991973612839e+45" dir="3.2651735040000005e+54">
              <a:srgbClr val="000000">
                <a:alpha val="4.5e+54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97880" y="115214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897880" y="157459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34640" y="205740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78350F">
              <a:alpha val="30000"/>
            </a:srgbClr>
          </a:solidFill>
          <a:ln w="12700">
            <a:solidFill>
              <a:srgbClr val="78350F"/>
            </a:solidFill>
            <a:prstDash val="solid"/>
          </a:ln>
          <a:effectLst>
            <a:outerShdw sx="100000" sy="100000" kx="0" ky="0" algn="bl" rotWithShape="0" blurRad="2.6408024274331147e+50" dist="7.042139806488305e+49" dir="1.9591041024000004e+59">
              <a:srgbClr val="000000">
                <a:alpha val="4.5e+59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926080" y="211226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2926080" y="253471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06440" y="205740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7F1D1D">
              <a:alpha val="30000"/>
            </a:srgbClr>
          </a:solidFill>
          <a:ln w="12700">
            <a:solidFill>
              <a:srgbClr val="7F1D1D"/>
            </a:solidFill>
            <a:prstDash val="solid"/>
          </a:ln>
          <a:effectLst>
            <a:outerShdw sx="100000" sy="100000" kx="0" ky="0" algn="bl" rotWithShape="0" blurRad="3.353819082840056e+54" dist="8.943517554240149e+53" dir="1.1754624614400003e+64">
              <a:srgbClr val="000000">
                <a:alpha val="4.5e+64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97880" y="2112264"/>
            <a:ext cx="256032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897880" y="2534717"/>
            <a:ext cx="256032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84048" y="315468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78350F">
              <a:alpha val="30000"/>
            </a:srgbClr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4.259350235206871e+58" dist="1.1358267293884988e+58" dir="7.052774768640002e+68">
              <a:srgbClr val="000000">
                <a:alpha val="4.5e+69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84048" y="3154680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" y="3218688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" y="3392424"/>
            <a:ext cx="815644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 - improvement actions required. 2 high | 2 medium | 1 low Critical gap: Phishing-resistant MFA is not consistently enforced for privileged roles.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Headline + takeaway + evidence format is used across all sections.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4096512" cy="2743200"/>
          </a:xfrm>
          <a:prstGeom prst="roundRect">
            <a:avLst>
              <a:gd name="adj" fmla="val 2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5.409374798712726e+62" dist="1.4424999463233936e+62" dir="4.2316648611840007e+73">
              <a:srgbClr val="000000">
                <a:alpha val="4.5e+7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097280"/>
            <a:ext cx="54864" cy="2743200"/>
          </a:xfrm>
          <a:prstGeom prst="roundRect">
            <a:avLst>
              <a:gd name="adj" fmla="val 13333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11612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" y="138074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authentication is blocked for all users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618488"/>
            <a:ext cx="38770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Legacy authentication is blocked for all users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Risk-driven controls cover high user and sign-in risk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Admin policies consistently require MFA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1097280"/>
            <a:ext cx="4096512" cy="2743200"/>
          </a:xfrm>
          <a:prstGeom prst="roundRect">
            <a:avLst>
              <a:gd name="adj" fmla="val 2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6.869905994365162e+66" dist="1.83197493183071e+66" dir="2.5389989167104004e+78">
              <a:srgbClr val="000000">
                <a:alpha val="4.5e+79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097280"/>
            <a:ext cx="54864" cy="274320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73168" y="11612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Concerns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73168" y="1380744"/>
            <a:ext cx="3877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report-only controls are older than six months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73168" y="1618488"/>
            <a:ext cx="38770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Three report-only controls are older than six months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Admin MFA is not phishing-resistant in all paths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Two Microsoft-managed controls have no custom equivalent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Priorities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actions represent the highest leverage improvements for the next review cycle.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8375904" cy="731520"/>
          </a:xfrm>
          <a:prstGeom prst="roundRect">
            <a:avLst>
              <a:gd name="adj" fmla="val 10000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8.724780612843756e+70" dist="2.3266081634250016e+70" dir="1.5233993500262402e+83">
              <a:srgbClr val="000000">
                <a:alpha val="4.5e+8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097280"/>
            <a:ext cx="54864" cy="7315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116128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 phishing-resistant methods for privileged roles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" y="138074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admin policy allows standard MFA methods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" y="1920240"/>
            <a:ext cx="8375904" cy="731520"/>
          </a:xfrm>
          <a:prstGeom prst="roundRect">
            <a:avLst>
              <a:gd name="adj" fmla="val 10000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.108047137831157e+75" dist="2.954792367549752e+74" dir="9.14039610015744e+87">
              <a:srgbClr val="000000">
                <a:alpha val="4.5e+8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920240"/>
            <a:ext cx="54864" cy="7315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198424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token protection control from report-only to enabled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" y="220370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has been report-only since 2025-08-05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" y="2743200"/>
            <a:ext cx="8375904" cy="731520"/>
          </a:xfrm>
          <a:prstGeom prst="roundRect">
            <a:avLst>
              <a:gd name="adj" fmla="val 10000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.4072198650455694e+79" dist="3.752586306788185e+78" dir="5.484237660094465e+92">
              <a:srgbClr val="000000">
                <a:alpha val="4.5e+9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" y="2743200"/>
            <a:ext cx="54864" cy="731520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" y="280720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Microsoft-managed overlap gaps with custom controls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" y="302666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overlap rows are marked as Gap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NARRATIVE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6751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Near-term items are immediate risk reducers. Mid-term items sustain posture improvements.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097280"/>
            <a:ext cx="4073652" cy="3017520"/>
          </a:xfrm>
          <a:prstGeom prst="roundRect">
            <a:avLst>
              <a:gd name="adj" fmla="val 2424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.787169228607873e+83" dist="4.765784609620995e+82" dir="3.2905425960566786e+97">
              <a:srgbClr val="000000">
                <a:alpha val="4.5e+9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097280"/>
            <a:ext cx="54864" cy="301752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116128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Near-term actions (0-45 days)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" y="138074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 first to reduce active exposure and remove stale report-only controls.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3776" y="1618488"/>
            <a:ext cx="38541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Enable token protection for Exchange and SharePoint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Move privileged role MFA to phishing-resistant strength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86300" y="1097280"/>
            <a:ext cx="4073652" cy="3017520"/>
          </a:xfrm>
          <a:prstGeom prst="roundRect">
            <a:avLst>
              <a:gd name="adj" fmla="val 2424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.269704920331999e+87" dist="6.052546454218663e+86" dir="1.9743255576340073e+102">
              <a:srgbClr val="000000">
                <a:alpha val="4.5e+104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86300" y="1097280"/>
            <a:ext cx="54864" cy="3017520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6028" y="1161288"/>
            <a:ext cx="38541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Mid-term actions (45-90 days)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96028" y="1380744"/>
            <a:ext cx="38541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these actions to harden role coverage and simplify policy operations.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96028" y="1618488"/>
            <a:ext cx="38541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Close remaining Microsoft-managed overlap gaps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Reduce standing active assignments in privileged roles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7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1600200"/>
            <a:ext cx="8375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384048" y="2176272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evidence and policy-level detail that supports the executive narrative.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88920" y="2651760"/>
            <a:ext cx="3566160" cy="0"/>
          </a:xfrm>
          <a:prstGeom prst="line">
            <a:avLst/>
          </a:prstGeom>
          <a:noFill/>
          <a:ln w="19050">
            <a:solidFill>
              <a:srgbClr val="00F0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880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landscape | Geo strategy | MFA matrix | Risk controls | Auth strengths | PIM | Report-only | MS-managed overlap | Recommendations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8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Landscape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12 policies are enforced. 3 remain in report-only mode.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2.8825252488216386e+91" dist="7.6867339968577025e+90" dir="1.1845953345804043e+107">
              <a:srgbClr val="000000">
                <a:alpha val="4.5e+109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Prioritize report-only conversions in parallel with high-severity gaps.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14356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618488" y="1453896"/>
            <a:ext cx="2400300" cy="155448"/>
          </a:xfrm>
          <a:prstGeom prst="roundRect">
            <a:avLst>
              <a:gd name="adj" fmla="val 23529"/>
            </a:avLst>
          </a:prstGeom>
          <a:solidFill>
            <a:srgbClr val="10B981"/>
          </a:solidFill>
          <a:ln w="127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91940" y="14356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4048" y="17739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618488" y="1792224"/>
            <a:ext cx="1028700" cy="155448"/>
          </a:xfrm>
          <a:prstGeom prst="roundRect">
            <a:avLst>
              <a:gd name="adj" fmla="val 23529"/>
            </a:avLst>
          </a:prstGeom>
          <a:solidFill>
            <a:srgbClr val="F59E0B"/>
          </a:solidFill>
          <a:ln w="127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0340" y="177393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4048" y="211226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618488" y="2130552"/>
            <a:ext cx="685800" cy="155448"/>
          </a:xfrm>
          <a:prstGeom prst="roundRect">
            <a:avLst>
              <a:gd name="adj" fmla="val 23529"/>
            </a:avLst>
          </a:prstGeom>
          <a:solidFill>
            <a:srgbClr val="EF4444"/>
          </a:solidFill>
          <a:ln w="1270">
            <a:solidFill>
              <a:srgbClr val="EF44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77440" y="2112264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4048" y="2578608"/>
            <a:ext cx="2715768" cy="1097280"/>
          </a:xfrm>
          <a:prstGeom prst="roundRect">
            <a:avLst>
              <a:gd name="adj" fmla="val 6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.660807066003481e+95" dist="9.762152176009283e+94" dir="7.107572007482426e+111">
              <a:srgbClr val="000000">
                <a:alpha val="4.4999999999999995e+114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84048" y="2578608"/>
            <a:ext cx="54864" cy="10972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" y="264261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Geolocation Blocks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" y="286207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policies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14116" y="2578608"/>
            <a:ext cx="2715768" cy="1097280"/>
          </a:xfrm>
          <a:prstGeom prst="roundRect">
            <a:avLst>
              <a:gd name="adj" fmla="val 6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4.649224973824421e+99" dist="1.2397933263531789e+99" dir="4.2645432044894554e+116">
              <a:srgbClr val="000000">
                <a:alpha val="4.4999999999999995e+119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14116" y="2578608"/>
            <a:ext cx="54864" cy="10972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23844" y="264261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Enforcement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23844" y="286207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policies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44184" y="2578608"/>
            <a:ext cx="2715768" cy="1097280"/>
          </a:xfrm>
          <a:prstGeom prst="roundRect">
            <a:avLst>
              <a:gd name="adj" fmla="val 6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5.9045157167570145e+103" dist="1.574537524468537e+103" dir="2.5587259226936733e+121">
              <a:srgbClr val="000000">
                <a:alpha val="4.4999999999999995e+124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44184" y="2578608"/>
            <a:ext cx="54864" cy="10972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53912" y="264261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Risk-Based Policies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53912" y="286207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policies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84048" y="3813048"/>
            <a:ext cx="2715768" cy="1097280"/>
          </a:xfrm>
          <a:prstGeom prst="roundRect">
            <a:avLst>
              <a:gd name="adj" fmla="val 6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7.498734960281408e+107" dist="1.9996626560750422e+107" dir="1.535235553616204e+126">
              <a:srgbClr val="000000">
                <a:alpha val="4.4999999999999995e+129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84048" y="3813048"/>
            <a:ext cx="54864" cy="10972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38770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Blocking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3776" y="409651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policies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14116" y="3813048"/>
            <a:ext cx="2715768" cy="1097280"/>
          </a:xfrm>
          <a:prstGeom prst="roundRect">
            <a:avLst>
              <a:gd name="adj" fmla="val 6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9.523393399557388e+111" dist="2.5395715732153033e+111" dir="9.211413321697224e+130">
              <a:srgbClr val="000000">
                <a:alpha val="4.5e+134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14116" y="3813048"/>
            <a:ext cx="54864" cy="10972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23844" y="38770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 and Session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23844" y="409651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policies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44184" y="3813048"/>
            <a:ext cx="2715768" cy="1097280"/>
          </a:xfrm>
          <a:prstGeom prst="roundRect">
            <a:avLst>
              <a:gd name="adj" fmla="val 666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.2094709617437883e+116" dist="3.2252558979834354e+115" dir="5.526847993018334e+135">
              <a:srgbClr val="000000">
                <a:alpha val="4.5e+139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044184" y="3813048"/>
            <a:ext cx="54864" cy="10972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53912" y="387705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Microsoft-managed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53912" y="4096512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policies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9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Geolocation Strategy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geolocation layers are active in the tenant posture.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5360281214146112e+120" dist="4.0960749904389626e+119" dir="3.3161087958110005e+140">
              <a:srgbClr val="000000">
                <a:alpha val="4.5e+14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country-specific policy is still report-only.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.9507557141965564e+124" dist="5.2020152378574823e+123" dir="1.9896652774866004e+145">
              <a:srgbClr val="000000">
                <a:alpha val="4.5e+14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96012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1499616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 1 - Catch-all geo block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" y="1719072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 policy blocks non-approved countries and allows corporate regions only.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" y="2542032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.4774597570296266e+128" dist="6.606559352079002e+127" dir="1.1937991664919603e+150">
              <a:srgbClr val="000000">
                <a:alpha val="4.5e+15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" y="2542032"/>
            <a:ext cx="54864" cy="96012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" y="2606040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 2 - Country-specific overlays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" y="2825496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Country A (Enabled), Country B (Report-only)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" y="3648456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.146373891427626e+132" dist="8.390330377140333e+131" dir="7.162794998951762e+154">
              <a:srgbClr val="000000">
                <a:alpha val="4.5e+159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4048" y="3648456"/>
            <a:ext cx="54864" cy="96012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" y="3712464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 3 - Trusted office location exclusions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" y="3931920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office locations are excluded from some MFA challenges.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" y="4169664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- 18 trusted locations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Enforcement Matrix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MFA policy entries were analyzed for scope and control strength.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3.995894842113085e+136" dist="1.0655719578968222e+136" dir="4.297676999371057e+159">
              <a:srgbClr val="000000">
                <a:alpha val="4.5000000000000003e+16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report-only MFA policies have transition plans to enforcement.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152144"/>
          </a:xfrm>
          <a:prstGeom prst="roundRect">
            <a:avLst>
              <a:gd name="adj" fmla="val 3175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78992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914400"/>
                <a:gridCol w="21945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Auth strength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Frequency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Conditions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All users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users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Built-in MFA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days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Trusted locations excluded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 roles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Built-in MFA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 days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locations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Remote workforce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users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secure MFA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sign-in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VPN and high-value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2715768"/>
            <a:ext cx="8375904" cy="658368"/>
          </a:xfrm>
          <a:prstGeom prst="roundRect">
            <a:avLst>
              <a:gd name="adj" fmla="val 11111"/>
            </a:avLst>
          </a:prstGeom>
          <a:solidFill>
            <a:srgbClr val="78350F">
              <a:alpha val="30000"/>
            </a:srgbClr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.074786449483618e+140" dist="1.3532763865289643e+140" dir="2.5786061996226343e+164">
              <a:srgbClr val="000000">
                <a:alpha val="4.5e+16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2715768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2779776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MFA posture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53512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Privileged roles should move from standard MFA to phishing-resistant methods.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11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Risk Policies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risk-focused policies were mapped to user and sign-in conditions.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6.444978790844195e+144" dist="1.7186610108917847e+144" dir="1.5471637197735807e+169">
              <a:srgbClr val="000000">
                <a:alpha val="4.4999999999999995e+17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High-risk users and high-risk sign-ins should have explicit enforcement and recovery paths.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4105656" cy="2697480"/>
          </a:xfrm>
          <a:prstGeom prst="roundRect">
            <a:avLst>
              <a:gd name="adj" fmla="val 2712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8.185123064372128e+148" dist="2.1826994838325667e+148" dir="9.282982318641485e+173">
              <a:srgbClr val="000000">
                <a:alpha val="4.4999999999999997e+17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269748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user risk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Users - High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" y="1956816"/>
            <a:ext cx="3886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Grant control: MFA + Password Change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Operator: Require ALL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Scope: All users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Modified: 2024-11-19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54296" y="1435608"/>
            <a:ext cx="4105656" cy="2697480"/>
          </a:xfrm>
          <a:prstGeom prst="roundRect">
            <a:avLst>
              <a:gd name="adj" fmla="val 2712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1.0395106291752602e+153" dist="2.77202834446736e+152" dir="5.569789391184891e+178">
              <a:srgbClr val="000000">
                <a:alpha val="4.4999999999999996e+184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54296" y="1435608"/>
            <a:ext cx="54864" cy="2697480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64024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sign-in risk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64024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Sign-ins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64024" y="1956816"/>
            <a:ext cx="3886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Grant control: Require MFA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Operator: Require ONE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Scope: All users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Modified: 2025-01-10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84048" y="4069080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3201784990525805e+157" dist="3.520475997473547e+156" dir="3.3418736347109347e+183">
              <a:srgbClr val="000000">
                <a:alpha val="4.5e+189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84048" y="4069080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" y="4133088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takeaway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3776" y="4306824"/>
            <a:ext cx="81564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controls are present but privileged user coverage can be tightened.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authentication strengths were evaluated for resistance and deployability.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6766266937967773e+161" dist="4.471004516791404e+160" dir="2.0051241808265608e+188">
              <a:srgbClr val="000000">
                <a:alpha val="4.5e+19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Remove phishable factors from admin-facing strengths and map each strength to policy scope.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4105656" cy="1325880"/>
          </a:xfrm>
          <a:prstGeom prst="roundRect">
            <a:avLst>
              <a:gd name="adj" fmla="val 551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.129315901121907e+165" dist="5.678175736325083e+164" dir="1.2030745084959364e+193">
              <a:srgbClr val="000000">
                <a:alpha val="4.5e+19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13258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Passwordless Admin (Strongest)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Type: Custom | Methods: fido2, windowsHelloForBusiness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3776" y="1956816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Recommended baseline for privileged roles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54296" y="1435608"/>
            <a:ext cx="4105656" cy="1325880"/>
          </a:xfrm>
          <a:prstGeom prst="roundRect">
            <a:avLst>
              <a:gd name="adj" fmla="val 551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.704231194424822e+169" dist="7.211283185132856e+168" dir="7.218447050975619e+197">
              <a:srgbClr val="000000">
                <a:alpha val="4.4999999999999995e+204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54296" y="1435608"/>
            <a:ext cx="54864" cy="13258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64024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Workforce (Strong)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64024" y="1719072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Type: Built-in | Methods: authenticatorPush, softwareOath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64024" y="1956816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General user coverage is adequate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84048" y="2907792"/>
            <a:ext cx="4105656" cy="1325880"/>
          </a:xfrm>
          <a:prstGeom prst="roundRect">
            <a:avLst>
              <a:gd name="adj" fmla="val 5517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.434373616919524e+173" dist="9.158329645118728e+172" dir="4.3310682305853715e+202">
              <a:srgbClr val="000000">
                <a:alpha val="4.4999999999999996e+209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84048" y="2907792"/>
            <a:ext cx="54864" cy="1325880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" y="29718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Exception (Weak)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" y="3191256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Type: Custom | Methods: sms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" y="342900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Should be retired from admin-facing flows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Privileged Access Coverage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privileged roles were compared against Conditional Access targeting.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4.361654493487796e+177" dist="1.1631078649300784e+177" dir="2.598640938351223e+207">
              <a:srgbClr val="000000">
                <a:alpha val="4.5e+21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without direct policy coverage should be prioritized in roadmap planning.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115568"/>
          </a:xfrm>
          <a:prstGeom prst="roundRect">
            <a:avLst>
              <a:gd name="adj" fmla="val 3279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42416"/>
        </p:xfrm>
        <a:graphic>
          <a:graphicData uri="http://schemas.openxmlformats.org/drawingml/2006/table">
            <a:tbl>
              <a:tblPr/>
              <a:tblGrid>
                <a:gridCol w="2011680"/>
                <a:gridCol w="685800"/>
                <a:gridCol w="685800"/>
                <a:gridCol w="397764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PIM role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Eligible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Active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 coverage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Global Administrator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Privileged Role Administrator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PIM auth context only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Security Administrator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direct role-targeted policy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2679192"/>
            <a:ext cx="8375904" cy="658368"/>
          </a:xfrm>
          <a:prstGeom prst="roundRect">
            <a:avLst>
              <a:gd name="adj" fmla="val 11111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5.539301206729501e+181" dist="1.4771469884611996e+181" dir="1.5591845630107338e+212">
              <a:srgbClr val="000000">
                <a:alpha val="4.4999999999999996e+21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2679192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27432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Coverage note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16936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Partial means role coverage is indirect through shared controls.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 Pipeline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report-only entries require staged conversion plans.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7.034912532546466e+185" dist="1.8759766753457235e+185" dir="9.355107378064403e+216">
              <a:srgbClr val="000000">
                <a:alpha val="4.5e+22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priority and staleness to define conversion waves.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115568"/>
          </a:xfrm>
          <a:prstGeom prst="roundRect">
            <a:avLst>
              <a:gd name="adj" fmla="val 3279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42416"/>
        </p:xfrm>
        <a:graphic>
          <a:graphicData uri="http://schemas.openxmlformats.org/drawingml/2006/table">
            <a:tbl>
              <a:tblPr/>
              <a:tblGrid>
                <a:gridCol w="2240280"/>
                <a:gridCol w="1463040"/>
                <a:gridCol w="2011680"/>
                <a:gridCol w="1097280"/>
                <a:gridCol w="8229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 control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apps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Modified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Token protection rollout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Token protection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Exchange + SharePoint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2025-08-05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 portal geo constraint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 access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 Admin Portals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2025-09-02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BYOD pilot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+ Compliant device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Office 365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2026-01-16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2679192"/>
            <a:ext cx="8375904" cy="658368"/>
          </a:xfrm>
          <a:prstGeom prst="roundRect">
            <a:avLst>
              <a:gd name="adj" fmla="val 11111"/>
            </a:avLst>
          </a:prstGeom>
          <a:solidFill>
            <a:srgbClr val="7F1D1D">
              <a:alpha val="30000"/>
            </a:srgbClr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8.934338916334011e+189" dist="2.382490377689069e+189" dir="5.613064426838642e+221">
              <a:srgbClr val="000000">
                <a:alpha val="4.4999999999999997e+22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2679192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EF4444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27432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Execution focus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16936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High-priority report-only items should move into staged enforcement this quarter.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Microsoft-managed Overlap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auto-created policies were mapped against custom equivalents.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1346610423744194e+194" dist="3.0257627796651175e+193" dir="3.367838656103185e+226">
              <a:srgbClr val="000000">
                <a:alpha val="4.5e+23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overlap marked as Gap should move into the high-priority backlog.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1152144"/>
          </a:xfrm>
          <a:prstGeom prst="roundRect">
            <a:avLst>
              <a:gd name="adj" fmla="val 3175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1078992"/>
        </p:xfrm>
        <a:graphic>
          <a:graphicData uri="http://schemas.openxmlformats.org/drawingml/2006/table">
            <a:tbl>
              <a:tblPr/>
              <a:tblGrid>
                <a:gridCol w="2331720"/>
                <a:gridCol w="2468880"/>
                <a:gridCol w="251460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MS-managed policy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equivalent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Overlap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for admins at admin portals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MFA for core admin roles in admin portals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Full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Phishing-resistant MFA for admins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phishing-resistant methods for admin roles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custom equivalent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Gap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 legacy authentication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Blocks legacy protocols for all users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Legacy authentication block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Full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384048" y="2715768"/>
            <a:ext cx="8375904" cy="658368"/>
          </a:xfrm>
          <a:prstGeom prst="roundRect">
            <a:avLst>
              <a:gd name="adj" fmla="val 11111"/>
            </a:avLst>
          </a:prstGeom>
          <a:solidFill>
            <a:srgbClr val="7F1D1D">
              <a:alpha val="30000"/>
            </a:srgbClr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.4410195238155126e+198" dist="3.8427187301746993e+197" dir="2.020703193661911e+231">
              <a:srgbClr val="000000">
                <a:alpha val="4.5e+239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84048" y="2715768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EF4444"/>
          </a:solidFill>
          <a:ln/>
        </p:spPr>
      </p:sp>
      <p:sp>
        <p:nvSpPr>
          <p:cNvPr id="17" name="Text 14"/>
          <p:cNvSpPr/>
          <p:nvPr/>
        </p:nvSpPr>
        <p:spPr>
          <a:xfrm>
            <a:off x="493776" y="2779776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gap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" y="2953512"/>
            <a:ext cx="8156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fully equivalent custom policy enforces phishing-resistant admin MFA.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ANALYSIS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 Inventory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recommendation items were grouped by severity for implementation planning.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1.830094795245701e+202" dist="4.880252787321868e+201" dir="1.2124219161971466e+236">
              <a:srgbClr val="000000">
                <a:alpha val="4.4999999999999997e+24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near-term delivery from the High group and keep Medium on a dated transition plan.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.3242203899620403e+206" dist="6.197921039898773e+205" dir="7.27453149718288e+240">
              <a:srgbClr val="000000">
                <a:alpha val="4.5e+249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1435608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1499616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priority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" y="1719072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Enforce phishing-resistant MFA for privileged roles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" y="1965960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2.9517598952517914e+210" dist="7.871359720671441e+209" dir="4.364718898309728e+245">
              <a:srgbClr val="000000">
                <a:alpha val="4.5e+25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" y="1965960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" y="2029968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priority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" y="2249424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 token protection controls for core workloads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" y="2496312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3.748735066969775e+214" dist="9.996626845252731e+213" dir="2.6188313389858368e+250">
              <a:srgbClr val="000000">
                <a:alpha val="4.5e+259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4048" y="2496312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" y="2560320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Medium priority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" y="2779776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 stale report-only controls with staged rollout windows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4048" y="3026664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4.760893535051614e+218" dist="1.2695716093470969e+218" dir="1.571298803391502e+255">
              <a:srgbClr val="000000">
                <a:alpha val="4.5e+264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84048" y="3026664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" y="3090672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Medium priority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3776" y="3310128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direct CA targeting for uncovered privileged roles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4048" y="3557016"/>
            <a:ext cx="8375904" cy="493776"/>
          </a:xfrm>
          <a:prstGeom prst="roundRect">
            <a:avLst>
              <a:gd name="adj" fmla="val 14815"/>
            </a:avLst>
          </a:prstGeom>
          <a:solidFill>
            <a:srgbClr val="161E31">
              <a:alpha val="30000"/>
            </a:srgbClr>
          </a:solidFill>
          <a:ln w="12700">
            <a:solidFill>
              <a:srgbClr val="293753"/>
            </a:solidFill>
            <a:prstDash val="solid"/>
          </a:ln>
          <a:effectLst>
            <a:outerShdw sx="100000" sy="100000" kx="0" ky="0" algn="bl" rotWithShape="0" blurRad="6.04633478951555e+222" dist="1.612355943870813e+222" dir="9.427792820349012e+259">
              <a:srgbClr val="000000">
                <a:alpha val="4.5e+269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84048" y="3557016"/>
            <a:ext cx="54864" cy="493776"/>
          </a:xfrm>
          <a:prstGeom prst="roundRect">
            <a:avLst>
              <a:gd name="adj" fmla="val 133333"/>
            </a:avLst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" y="3621024"/>
            <a:ext cx="8156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 priority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3776" y="3840480"/>
            <a:ext cx="8156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Retire low-value legacy exceptions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2011680"/>
            <a:ext cx="8375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84048" y="2542032"/>
            <a:ext cx="8375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inventory and detail are separated from the executive narrative.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18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310896"/>
            <a:ext cx="8375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Policy Matrix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658368"/>
            <a:ext cx="8375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policies are listed with state, action, scope summary, and modified date.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905256"/>
            <a:ext cx="8375904" cy="457200"/>
          </a:xfrm>
          <a:prstGeom prst="roundRect">
            <a:avLst>
              <a:gd name="adj" fmla="val 16000"/>
            </a:avLst>
          </a:prstGeom>
          <a:solidFill>
            <a:srgbClr val="1E293B">
              <a:alpha val="30000"/>
            </a:srgbClr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7.678845182684748e+226" dist="2.0476920487159326e+226" dir="5.656675692209407e+264">
              <a:srgbClr val="000000">
                <a:alpha val="4.5000000000000005e+274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905256"/>
            <a:ext cx="8375904" cy="36576"/>
          </a:xfrm>
          <a:prstGeom prst="roundRect">
            <a:avLst>
              <a:gd name="adj" fmla="val 200000"/>
            </a:avLst>
          </a:prstGeom>
          <a:solidFill>
            <a:srgbClr val="94A3B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" y="969264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76" y="1143000"/>
            <a:ext cx="8156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appendix inventory is optimized for export and audit reference.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" y="1435608"/>
            <a:ext cx="8375904" cy="2980944"/>
          </a:xfrm>
          <a:prstGeom prst="roundRect">
            <a:avLst>
              <a:gd name="adj" fmla="val 1227"/>
            </a:avLst>
          </a:prstGeom>
          <a:solidFill>
            <a:srgbClr val="161E31"/>
          </a:solidFill>
          <a:ln w="9525">
            <a:solidFill>
              <a:srgbClr val="293753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" y="1472184"/>
          <a:ext cx="8302752" cy="2907792"/>
        </p:xfrm>
        <a:graphic>
          <a:graphicData uri="http://schemas.openxmlformats.org/drawingml/2006/table">
            <a:tbl>
              <a:tblPr/>
              <a:tblGrid>
                <a:gridCol w="320040"/>
                <a:gridCol w="2468880"/>
                <a:gridCol w="868680"/>
                <a:gridCol w="685800"/>
                <a:gridCol w="301752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Policy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 summary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Modified</a:t>
                      </a:r>
                      <a:endParaRPr lang="en-US" sz="8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F1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Legacy authentication block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2025-03-04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All users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2025-04-18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MFA - Privileged roles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All cloud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2025-06-01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Risky Users - High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2024-11-19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Risky Sign-ins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2025-01-10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Geolocation catch-all block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All cloud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2025-02-14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Device registration control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2025-05-20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Token protection rollout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Report-only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Users: All users, Apps: Office 365 Exchange Online, Mic...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2025-08-05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 portal geo control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Report-only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Block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Microsoft Admin Portals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2025-09-02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BYOD pilot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Report-only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Groups: Mobile Workforce, Apps: Office 365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2026-01-16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Microsoft-managed: Phishing-resistant MFA for admins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All cloud apps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2024-12-12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E3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Microsoft-managed: Require MFA for admins at admin portals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Disabled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Grant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Apps: Microsoft Admin Portals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DFE6F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2024-12-12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937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19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authentication block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2025-03-04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0986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exchangeActiveSync, other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" y="240487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2404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 users: Break glass account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 of 12 | ID p-001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- All users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2025-04-18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Exclude: Trusted office networks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70986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browser, mobileAppsAndDesktopClients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" y="2404872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6928" y="2404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 groups: Service Accounts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frequency: 14 days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2 of 12 | ID p-002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21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MFA - Privileged roles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2025-06-01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locations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Security Administrator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frequency: 7 days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3 of 12 | ID p-003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22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Users - High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2024-11-19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4 of 12 | ID p-004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23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Risky Sign-ins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2025-01-10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5 of 12 | ID p-005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24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Geolocation catch-all block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2025-02-14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| excl: CA, US, +1 more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6 of 12 | ID p-006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25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 registration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2025-05-20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Actions: registerOrJoinDevices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7 of 12 | ID p-007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 rollout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2025-08-05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8350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windows, macOS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users: All users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14600" y="41148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697480" y="41148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tokenProtection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Office 365 Exchange Online, Microsoft SharePoint Online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8 of 12 | ID p-008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27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portal geo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2025-09-02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8350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77517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Exclude: Trusted office networks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Privileged Role Administrator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EF444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Microsoft Admin Portals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9 of 12 | ID p-009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28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BYOD pilot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2026-01-16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8350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REPORT-ONLY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00F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444752"/>
            <a:ext cx="22860" cy="402336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android, iOS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groups: Mobile Workforce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Office 365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431536" y="3236976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frequency: 8 hours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431536" y="347472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7472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60273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60273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7307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7307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8587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8587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867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867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1148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1148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431536" y="42428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614416" y="42428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10 of 12 | ID p-010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29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Phishing-resistant MFA for admins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2024-12-12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F1D1D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Security Administrator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ALL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All cloud apps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11 of 12 | ID p-011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914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645152" y="9144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Northwind Trading | April 8,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4887468"/>
            <a:ext cx="8375904" cy="0"/>
          </a:xfrm>
          <a:prstGeom prst="line">
            <a:avLst/>
          </a:prstGeom>
          <a:noFill/>
          <a:ln w="6350">
            <a:solidFill>
              <a:srgbClr val="29375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88352" y="4924044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30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84048" y="292608"/>
            <a:ext cx="61813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MFA for admins at admin portals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4048" y="9418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Modified: 2024-12-12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040880" y="347472"/>
            <a:ext cx="1719072" cy="329184"/>
          </a:xfrm>
          <a:prstGeom prst="roundRect">
            <a:avLst>
              <a:gd name="adj" fmla="val 55556"/>
            </a:avLst>
          </a:prstGeom>
          <a:solidFill>
            <a:srgbClr val="7F1D1D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0" y="416052"/>
            <a:ext cx="1719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12801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4048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077517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50669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50669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70986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4138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Apps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844138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64454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7606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537606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157923" y="1444752"/>
            <a:ext cx="1602029" cy="402336"/>
          </a:xfrm>
          <a:prstGeom prst="rect">
            <a:avLst/>
          </a:prstGeom>
          <a:solidFill>
            <a:srgbClr val="101626"/>
          </a:solidFill>
          <a:ln w="6985">
            <a:solidFill>
              <a:srgbClr val="2937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1075" y="1499616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231075" y="1664208"/>
            <a:ext cx="149230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configured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4048" y="1920240"/>
            <a:ext cx="1874520" cy="254203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1920240"/>
            <a:ext cx="27432" cy="2542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19842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66928" y="2194560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roles: Global Administrator, Privileged Role Administrator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23160" y="1993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access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2423160" y="2240280"/>
            <a:ext cx="2679192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176272"/>
            <a:ext cx="109728" cy="128016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23160" y="2340864"/>
            <a:ext cx="2788920" cy="212140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3160" y="2340864"/>
            <a:ext cx="27432" cy="212140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404872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CONTROLS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514600" y="2596896"/>
            <a:ext cx="2642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 ONE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514600" y="28346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97480" y="28346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Multifactor authentication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514600" y="29946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697480" y="29946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 strength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514600" y="31546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697480" y="31546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Compliant device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514600" y="331470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97480" y="331470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Hybrid Azure AD joined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514600" y="347472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697480" y="347472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client app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514600" y="363474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97480" y="363474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protection policy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514600" y="379476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697480" y="379476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password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514600" y="3954780"/>
            <a:ext cx="1828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97480" y="3954780"/>
            <a:ext cx="244144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of use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40096" y="1920240"/>
            <a:ext cx="3419856" cy="987552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40096" y="1920240"/>
            <a:ext cx="27432" cy="9875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31536" y="1984248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431536" y="2194560"/>
            <a:ext cx="10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22976" y="2194560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F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Include: Microsoft Admin Portals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340096" y="2980944"/>
            <a:ext cx="3419856" cy="1481328"/>
          </a:xfrm>
          <a:prstGeom prst="rect">
            <a:avLst/>
          </a:prstGeom>
          <a:solidFill>
            <a:srgbClr val="161E31"/>
          </a:solidFill>
          <a:ln w="7620">
            <a:solidFill>
              <a:srgbClr val="29375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340096" y="2980944"/>
            <a:ext cx="27432" cy="148132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31536" y="3044952"/>
            <a:ext cx="3273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CONTROLS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431536" y="327355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14416" y="327355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enforced restrictions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431536" y="340156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614416" y="340156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 Access App Control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431536" y="3529584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4416" y="3529584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Sign-in frequency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31536" y="3657600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614416" y="3657600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browser session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431536" y="3785616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14416" y="3785616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access evaluation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431536" y="3913632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5614416" y="3913632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 resilience defaults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431536" y="4041648"/>
            <a:ext cx="182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]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614416" y="4041648"/>
            <a:ext cx="30723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protection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384048" y="4924044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12 of 12 | ID p-012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Northwind Trading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Conditional Access Security Posture Report</dc:title>
  <dc:subject>Conditional Access posture analysis</dc:subject>
  <dc:creator>CA Documenter</dc:creator>
  <cp:lastModifiedBy>CA Documenter</cp:lastModifiedBy>
  <cp:revision>1</cp:revision>
  <dcterms:created xsi:type="dcterms:W3CDTF">2026-04-10T03:16:51Z</dcterms:created>
  <dcterms:modified xsi:type="dcterms:W3CDTF">2026-04-10T03:16:51Z</dcterms:modified>
</cp:coreProperties>
</file>