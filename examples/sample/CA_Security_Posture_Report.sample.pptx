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0" y="-1097280"/>
            <a:ext cx="4389120" cy="4389120"/>
          </a:xfrm>
          <a:prstGeom prst="ellipse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0" y="2011680"/>
            <a:ext cx="3474720" cy="3474720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932688"/>
            <a:ext cx="5943600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Conditional Access Security Posture Report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384048" y="26243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Northwind Trading | April 8, 2026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84048" y="3977640"/>
            <a:ext cx="1353312" cy="822960"/>
          </a:xfrm>
          <a:prstGeom prst="roundRect">
            <a:avLst>
              <a:gd name="adj" fmla="val 4444"/>
            </a:avLst>
          </a:prstGeom>
          <a:solidFill>
            <a:srgbClr val="243A5A">
              <a:alpha val="85000"/>
            </a:srgbClr>
          </a:solidFill>
          <a:ln w="3175">
            <a:solidFill>
              <a:srgbClr val="243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06908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C4D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84048" y="4425696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Policies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865376" y="3977640"/>
            <a:ext cx="1353312" cy="822960"/>
          </a:xfrm>
          <a:prstGeom prst="roundRect">
            <a:avLst>
              <a:gd name="adj" fmla="val 4444"/>
            </a:avLst>
          </a:prstGeom>
          <a:solidFill>
            <a:srgbClr val="0B3A35">
              <a:alpha val="85000"/>
            </a:srgbClr>
          </a:solidFill>
          <a:ln w="3175">
            <a:solidFill>
              <a:srgbClr val="0B3A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65376" y="406908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D3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865376" y="4425696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Enabled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346704" y="3977640"/>
            <a:ext cx="1353312" cy="822960"/>
          </a:xfrm>
          <a:prstGeom prst="roundRect">
            <a:avLst>
              <a:gd name="adj" fmla="val 4444"/>
            </a:avLst>
          </a:prstGeom>
          <a:solidFill>
            <a:srgbClr val="4B3812">
              <a:alpha val="85000"/>
            </a:srgbClr>
          </a:solidFill>
          <a:ln w="3175">
            <a:solidFill>
              <a:srgbClr val="4B381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46704" y="406908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346704" y="4425696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Report-only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828032" y="3977640"/>
            <a:ext cx="1353312" cy="822960"/>
          </a:xfrm>
          <a:prstGeom prst="roundRect">
            <a:avLst>
              <a:gd name="adj" fmla="val 4444"/>
            </a:avLst>
          </a:prstGeom>
          <a:solidFill>
            <a:srgbClr val="4F1E2A">
              <a:alpha val="85000"/>
            </a:srgbClr>
          </a:solidFill>
          <a:ln w="3175">
            <a:solidFill>
              <a:srgbClr val="4F1E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28032" y="406908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5D6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828032" y="4425696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Disabled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06440" y="-1097280"/>
            <a:ext cx="4480560" cy="4480560"/>
          </a:xfrm>
          <a:prstGeom prst="ellipse">
            <a:avLst/>
          </a:prstGeom>
          <a:solidFill>
            <a:srgbClr val="06B6D4">
              <a:alpha val="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12280" y="2011680"/>
            <a:ext cx="3566160" cy="3566160"/>
          </a:xfrm>
          <a:prstGeom prst="ellipse">
            <a:avLst/>
          </a:prstGeom>
          <a:solidFill>
            <a:srgbClr val="06B6D4">
              <a:alpha val="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EXECUTIVE NARRATIVE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D476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2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1F5F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Agenda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84048" y="667512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report is structured for executive decisions first, evidence second, appendix last.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84048" y="1188720"/>
            <a:ext cx="4073652" cy="1234440"/>
          </a:xfrm>
          <a:prstGeom prst="roundRect">
            <a:avLst>
              <a:gd name="adj" fmla="val 2963"/>
            </a:avLst>
          </a:prstGeom>
          <a:solidFill>
            <a:srgbClr val="1C2C47"/>
          </a:solidFill>
          <a:ln w="9525">
            <a:solidFill>
              <a:srgbClr val="2D476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4048" y="1188720"/>
            <a:ext cx="36576" cy="1234440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" y="1252728"/>
            <a:ext cx="38541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C4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Posture Snapshot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93776" y="1472184"/>
            <a:ext cx="38541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score, trend signal, and policy status distribution.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93776" y="1709928"/>
            <a:ext cx="38541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Scorecard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State mix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Assessment summary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686300" y="1188720"/>
            <a:ext cx="4073652" cy="1234440"/>
          </a:xfrm>
          <a:prstGeom prst="roundRect">
            <a:avLst>
              <a:gd name="adj" fmla="val 2963"/>
            </a:avLst>
          </a:prstGeom>
          <a:solidFill>
            <a:srgbClr val="1C2C47"/>
          </a:solidFill>
          <a:ln w="9525">
            <a:solidFill>
              <a:srgbClr val="2D476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86300" y="1188720"/>
            <a:ext cx="36576" cy="1234440"/>
          </a:xfrm>
          <a:prstGeom prst="rect">
            <a:avLst/>
          </a:prstGeom>
          <a:solidFill>
            <a:srgbClr val="FF5D6C"/>
          </a:solidFill>
          <a:ln w="12700">
            <a:solidFill>
              <a:srgbClr val="FF5D6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96028" y="1252728"/>
            <a:ext cx="38541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D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Immediate Priorities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96028" y="1472184"/>
            <a:ext cx="38541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 actions that reduce risk quickly in the next quarter.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796028" y="1709928"/>
            <a:ext cx="38541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Top priorities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- 90-day roadmap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84048" y="2606040"/>
            <a:ext cx="4073652" cy="1234440"/>
          </a:xfrm>
          <a:prstGeom prst="roundRect">
            <a:avLst>
              <a:gd name="adj" fmla="val 2963"/>
            </a:avLst>
          </a:prstGeom>
          <a:solidFill>
            <a:srgbClr val="1C2C47"/>
          </a:solidFill>
          <a:ln w="9525">
            <a:solidFill>
              <a:srgbClr val="2D476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048" y="2606040"/>
            <a:ext cx="36576" cy="123444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" y="2670048"/>
            <a:ext cx="38541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Supporting Analysis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93776" y="2889504"/>
            <a:ext cx="38541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Detailed evidence across MFA, risk, geography, and privileged access.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93776" y="3127248"/>
            <a:ext cx="38541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Control evidence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Policy overlap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Recommendation detail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686300" y="2606040"/>
            <a:ext cx="4073652" cy="1234440"/>
          </a:xfrm>
          <a:prstGeom prst="roundRect">
            <a:avLst>
              <a:gd name="adj" fmla="val 2963"/>
            </a:avLst>
          </a:prstGeom>
          <a:solidFill>
            <a:srgbClr val="1C2C47"/>
          </a:solidFill>
          <a:ln w="9525">
            <a:solidFill>
              <a:srgbClr val="2D476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86300" y="2606040"/>
            <a:ext cx="36576" cy="1234440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96028" y="2670048"/>
            <a:ext cx="38541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C4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Appendix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96028" y="2889504"/>
            <a:ext cx="38541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 inventory and per-policy detail for audit and implementation.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96028" y="3127248"/>
            <a:ext cx="38541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Policy matrix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Policy-level breakdown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06440" y="-1097280"/>
            <a:ext cx="4480560" cy="4480560"/>
          </a:xfrm>
          <a:prstGeom prst="ellipse">
            <a:avLst/>
          </a:prstGeom>
          <a:solidFill>
            <a:srgbClr val="06B6D4">
              <a:alpha val="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12280" y="2011680"/>
            <a:ext cx="3566160" cy="3566160"/>
          </a:xfrm>
          <a:prstGeom prst="ellipse">
            <a:avLst/>
          </a:prstGeom>
          <a:solidFill>
            <a:srgbClr val="06B6D4">
              <a:alpha val="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EXECUTIVE NARRATIVE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D476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3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1F5F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Posture Scorecard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84048" y="667512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Overall posture combines policy enforcement state and current recommendation backlog.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84048" y="1097280"/>
            <a:ext cx="2194560" cy="1828800"/>
          </a:xfrm>
          <a:prstGeom prst="roundRect">
            <a:avLst>
              <a:gd name="adj" fmla="val 2000"/>
            </a:avLst>
          </a:prstGeom>
          <a:solidFill>
            <a:srgbClr val="4B3812"/>
          </a:solidFill>
          <a:ln w="6350">
            <a:solidFill>
              <a:srgbClr val="4B38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" y="1152144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BBF2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72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475488" y="2157984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Stable posture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834640" y="1097280"/>
            <a:ext cx="2743200" cy="822960"/>
          </a:xfrm>
          <a:prstGeom prst="roundRect">
            <a:avLst>
              <a:gd name="adj" fmla="val 4444"/>
            </a:avLst>
          </a:prstGeom>
          <a:solidFill>
            <a:srgbClr val="243A5A"/>
          </a:solidFill>
          <a:ln w="6350">
            <a:solidFill>
              <a:srgbClr val="243A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26080" y="1152144"/>
            <a:ext cx="256032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C4D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2926080" y="1574597"/>
            <a:ext cx="256032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Total policies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806440" y="1097280"/>
            <a:ext cx="2743200" cy="822960"/>
          </a:xfrm>
          <a:prstGeom prst="roundRect">
            <a:avLst>
              <a:gd name="adj" fmla="val 4444"/>
            </a:avLst>
          </a:prstGeom>
          <a:solidFill>
            <a:srgbClr val="0B3A35"/>
          </a:solidFill>
          <a:ln w="6350">
            <a:solidFill>
              <a:srgbClr val="0B3A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97880" y="1152144"/>
            <a:ext cx="256032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2D3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5897880" y="1574597"/>
            <a:ext cx="256032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Enabled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834640" y="2057400"/>
            <a:ext cx="2743200" cy="822960"/>
          </a:xfrm>
          <a:prstGeom prst="roundRect">
            <a:avLst>
              <a:gd name="adj" fmla="val 4444"/>
            </a:avLst>
          </a:prstGeom>
          <a:solidFill>
            <a:srgbClr val="4B3812"/>
          </a:solidFill>
          <a:ln w="6350">
            <a:solidFill>
              <a:srgbClr val="4B38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926080" y="2112264"/>
            <a:ext cx="256032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BBF2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2926080" y="2534717"/>
            <a:ext cx="256032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Report-only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806440" y="2057400"/>
            <a:ext cx="2743200" cy="822960"/>
          </a:xfrm>
          <a:prstGeom prst="roundRect">
            <a:avLst>
              <a:gd name="adj" fmla="val 4444"/>
            </a:avLst>
          </a:prstGeom>
          <a:solidFill>
            <a:srgbClr val="4F1E2A"/>
          </a:solidFill>
          <a:ln w="6350">
            <a:solidFill>
              <a:srgbClr val="4F1E2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97880" y="2112264"/>
            <a:ext cx="256032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5D6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5897880" y="2534717"/>
            <a:ext cx="256032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Disabled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84048" y="3154680"/>
            <a:ext cx="8375904" cy="960120"/>
          </a:xfrm>
          <a:prstGeom prst="roundRect">
            <a:avLst>
              <a:gd name="adj" fmla="val 3810"/>
            </a:avLst>
          </a:prstGeom>
          <a:solidFill>
            <a:srgbClr val="4B3812"/>
          </a:solidFill>
          <a:ln w="10160">
            <a:solidFill>
              <a:srgbClr val="FBBF2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776" y="3218688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Assessment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93776" y="3392424"/>
            <a:ext cx="815644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- improvement actions required. 2 high | 2 medium | 1 low Critical gap: Phishing-resistant MFA is not consistently enforced for privileged roles.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06440" y="-1097280"/>
            <a:ext cx="4480560" cy="4480560"/>
          </a:xfrm>
          <a:prstGeom prst="ellipse">
            <a:avLst/>
          </a:prstGeom>
          <a:solidFill>
            <a:srgbClr val="06B6D4">
              <a:alpha val="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12280" y="2011680"/>
            <a:ext cx="3566160" cy="3566160"/>
          </a:xfrm>
          <a:prstGeom prst="ellipse">
            <a:avLst/>
          </a:prstGeom>
          <a:solidFill>
            <a:srgbClr val="06B6D4">
              <a:alpha val="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EXECUTIVE NARRATIVE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D476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4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1F5F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84048" y="667512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 + takeaway + evidence format is used across all sections.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84048" y="1097280"/>
            <a:ext cx="4096512" cy="2743200"/>
          </a:xfrm>
          <a:prstGeom prst="roundRect">
            <a:avLst>
              <a:gd name="adj" fmla="val 1333"/>
            </a:avLst>
          </a:prstGeom>
          <a:solidFill>
            <a:srgbClr val="1C2C47"/>
          </a:solidFill>
          <a:ln w="9525">
            <a:solidFill>
              <a:srgbClr val="2D476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4048" y="1097280"/>
            <a:ext cx="36576" cy="2743200"/>
          </a:xfrm>
          <a:prstGeom prst="rect">
            <a:avLst/>
          </a:prstGeom>
          <a:solidFill>
            <a:srgbClr val="22D3A6"/>
          </a:solidFill>
          <a:ln w="12700">
            <a:solidFill>
              <a:srgbClr val="22D3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" y="1161288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D3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Strengths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93776" y="1380744"/>
            <a:ext cx="3877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Legacy authentication is blocked for all users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93776" y="1618488"/>
            <a:ext cx="3877056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Legacy authentication is blocked for all users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Risk-driven controls cover high user and sign-in risk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Admin policies consistently require MFA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663440" y="1097280"/>
            <a:ext cx="4096512" cy="2743200"/>
          </a:xfrm>
          <a:prstGeom prst="roundRect">
            <a:avLst>
              <a:gd name="adj" fmla="val 1333"/>
            </a:avLst>
          </a:prstGeom>
          <a:solidFill>
            <a:srgbClr val="1C2C47"/>
          </a:solidFill>
          <a:ln w="9525">
            <a:solidFill>
              <a:srgbClr val="2D476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3440" y="1097280"/>
            <a:ext cx="36576" cy="2743200"/>
          </a:xfrm>
          <a:prstGeom prst="rect">
            <a:avLst/>
          </a:prstGeom>
          <a:solidFill>
            <a:srgbClr val="FF5D6C"/>
          </a:solidFill>
          <a:ln w="12700">
            <a:solidFill>
              <a:srgbClr val="FF5D6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73168" y="1161288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D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Concerns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73168" y="1380744"/>
            <a:ext cx="3877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report-only controls are older than six months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773168" y="1618488"/>
            <a:ext cx="3877056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Three report-only controls are older than six months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Admin MFA is not phishing-resistant in all paths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Two Microsoft-managed controls have no custom equivalent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06440" y="-1097280"/>
            <a:ext cx="4480560" cy="4480560"/>
          </a:xfrm>
          <a:prstGeom prst="ellipse">
            <a:avLst/>
          </a:prstGeom>
          <a:solidFill>
            <a:srgbClr val="06B6D4">
              <a:alpha val="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12280" y="2011680"/>
            <a:ext cx="3566160" cy="3566160"/>
          </a:xfrm>
          <a:prstGeom prst="ellipse">
            <a:avLst/>
          </a:prstGeom>
          <a:solidFill>
            <a:srgbClr val="06B6D4">
              <a:alpha val="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EXECUTIVE NARRATIVE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D476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5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1F5F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Top Priorities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84048" y="667512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actions represent the highest leverage improvements for the next review cycle.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84048" y="1097280"/>
            <a:ext cx="8375904" cy="731520"/>
          </a:xfrm>
          <a:prstGeom prst="roundRect">
            <a:avLst>
              <a:gd name="adj" fmla="val 5000"/>
            </a:avLst>
          </a:prstGeom>
          <a:solidFill>
            <a:srgbClr val="1C2C47"/>
          </a:solidFill>
          <a:ln w="9525">
            <a:solidFill>
              <a:srgbClr val="2D476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4048" y="1097280"/>
            <a:ext cx="36576" cy="731520"/>
          </a:xfrm>
          <a:prstGeom prst="rect">
            <a:avLst/>
          </a:prstGeom>
          <a:solidFill>
            <a:srgbClr val="FF5D6C"/>
          </a:solidFill>
          <a:ln w="12700">
            <a:solidFill>
              <a:srgbClr val="FF5D6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" y="1161288"/>
            <a:ext cx="8156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D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 phishing-resistant methods for privileged roles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93776" y="1380744"/>
            <a:ext cx="8156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admin policy allows standard MFA methods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84048" y="1920240"/>
            <a:ext cx="8375904" cy="731520"/>
          </a:xfrm>
          <a:prstGeom prst="roundRect">
            <a:avLst>
              <a:gd name="adj" fmla="val 5000"/>
            </a:avLst>
          </a:prstGeom>
          <a:solidFill>
            <a:srgbClr val="1C2C47"/>
          </a:solidFill>
          <a:ln w="9525">
            <a:solidFill>
              <a:srgbClr val="2D476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4048" y="1920240"/>
            <a:ext cx="36576" cy="731520"/>
          </a:xfrm>
          <a:prstGeom prst="rect">
            <a:avLst/>
          </a:prstGeom>
          <a:solidFill>
            <a:srgbClr val="FF5D6C"/>
          </a:solidFill>
          <a:ln w="12700">
            <a:solidFill>
              <a:srgbClr val="FF5D6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" y="1984248"/>
            <a:ext cx="8156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D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token protection control from report-only to enabled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93776" y="2203704"/>
            <a:ext cx="8156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 has been report-only since 2025-08-05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84048" y="2743200"/>
            <a:ext cx="8375904" cy="731520"/>
          </a:xfrm>
          <a:prstGeom prst="roundRect">
            <a:avLst>
              <a:gd name="adj" fmla="val 5000"/>
            </a:avLst>
          </a:prstGeom>
          <a:solidFill>
            <a:srgbClr val="1C2C47"/>
          </a:solidFill>
          <a:ln w="9525">
            <a:solidFill>
              <a:srgbClr val="2D476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048" y="2743200"/>
            <a:ext cx="36576" cy="73152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" y="2807208"/>
            <a:ext cx="8156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Close Microsoft-managed overlap gaps with custom controls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93776" y="3026664"/>
            <a:ext cx="8156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overlap rows are marked as Gap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06440" y="-1097280"/>
            <a:ext cx="4480560" cy="4480560"/>
          </a:xfrm>
          <a:prstGeom prst="ellipse">
            <a:avLst/>
          </a:prstGeom>
          <a:solidFill>
            <a:srgbClr val="06B6D4">
              <a:alpha val="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12280" y="2011680"/>
            <a:ext cx="3566160" cy="3566160"/>
          </a:xfrm>
          <a:prstGeom prst="ellipse">
            <a:avLst/>
          </a:prstGeom>
          <a:solidFill>
            <a:srgbClr val="06B6D4">
              <a:alpha val="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EXECUTIVE NARRATIVE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D476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1F5F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90-Day Roadmap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84048" y="667512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Near-term items are immediate risk reducers. Mid-term items sustain posture improvements.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84048" y="1097280"/>
            <a:ext cx="4073652" cy="3017520"/>
          </a:xfrm>
          <a:prstGeom prst="roundRect">
            <a:avLst>
              <a:gd name="adj" fmla="val 1212"/>
            </a:avLst>
          </a:prstGeom>
          <a:solidFill>
            <a:srgbClr val="1C2C47"/>
          </a:solidFill>
          <a:ln w="9525">
            <a:solidFill>
              <a:srgbClr val="2D476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4048" y="1097280"/>
            <a:ext cx="36576" cy="3017520"/>
          </a:xfrm>
          <a:prstGeom prst="rect">
            <a:avLst/>
          </a:prstGeom>
          <a:solidFill>
            <a:srgbClr val="FF5D6C"/>
          </a:solidFill>
          <a:ln w="12700">
            <a:solidFill>
              <a:srgbClr val="FF5D6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" y="1161288"/>
            <a:ext cx="38541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D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Near-term actions (0-45 days)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93776" y="1380744"/>
            <a:ext cx="38541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Execute first to reduce active exposure and remove stale report-only controls.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93776" y="1618488"/>
            <a:ext cx="385419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Enable token protection for Exchange and SharePoint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Move privileged role MFA to phishing-resistant strength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686300" y="1097280"/>
            <a:ext cx="4073652" cy="3017520"/>
          </a:xfrm>
          <a:prstGeom prst="roundRect">
            <a:avLst>
              <a:gd name="adj" fmla="val 1212"/>
            </a:avLst>
          </a:prstGeom>
          <a:solidFill>
            <a:srgbClr val="1C2C47"/>
          </a:solidFill>
          <a:ln w="9525">
            <a:solidFill>
              <a:srgbClr val="2D476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86300" y="1097280"/>
            <a:ext cx="36576" cy="301752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96028" y="1161288"/>
            <a:ext cx="38541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Mid-term actions (45-90 days)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96028" y="1380744"/>
            <a:ext cx="38541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actions to harden role coverage and simplify policy operations.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796028" y="1618488"/>
            <a:ext cx="385419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Close remaining Microsoft-managed overlap gaps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Reduce standing active assignments in privileged roles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06440" y="-1097280"/>
            <a:ext cx="4480560" cy="4480560"/>
          </a:xfrm>
          <a:prstGeom prst="ellipse">
            <a:avLst/>
          </a:prstGeom>
          <a:solidFill>
            <a:srgbClr val="06B6D4">
              <a:alpha val="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12280" y="2011680"/>
            <a:ext cx="3566160" cy="3566160"/>
          </a:xfrm>
          <a:prstGeom prst="ellipse">
            <a:avLst/>
          </a:prstGeom>
          <a:solidFill>
            <a:srgbClr val="06B6D4">
              <a:alpha val="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SUPPORTING ANALYSIS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D476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7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84048" y="1600200"/>
            <a:ext cx="8375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1F5F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Analysis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384048" y="2176272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 evidence and policy-level detail that supports the executive narrative.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88920" y="2651760"/>
            <a:ext cx="3566160" cy="0"/>
          </a:xfrm>
          <a:prstGeom prst="line">
            <a:avLst/>
          </a:prstGeom>
          <a:noFill/>
          <a:ln w="190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288036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Policy landscape | Geo strategy | MFA matrix | Risk controls | Auth strengths | PIM | Report-only | MS-managed overlap | Recommendations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06440" y="-1097280"/>
            <a:ext cx="4480560" cy="4480560"/>
          </a:xfrm>
          <a:prstGeom prst="ellipse">
            <a:avLst/>
          </a:prstGeom>
          <a:solidFill>
            <a:srgbClr val="06B6D4">
              <a:alpha val="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12280" y="2011680"/>
            <a:ext cx="3566160" cy="3566160"/>
          </a:xfrm>
          <a:prstGeom prst="ellipse">
            <a:avLst/>
          </a:prstGeom>
          <a:solidFill>
            <a:srgbClr val="06B6D4">
              <a:alpha val="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SUPPORTING ANALYSIS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D476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8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1F5F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Policy Landscape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84048" y="658368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12 policies are enforced. 3 remain in report-only mode.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84048" y="905256"/>
            <a:ext cx="8375904" cy="457200"/>
          </a:xfrm>
          <a:prstGeom prst="roundRect">
            <a:avLst>
              <a:gd name="adj" fmla="val 8000"/>
            </a:avLst>
          </a:prstGeom>
          <a:solidFill>
            <a:srgbClr val="243A5A"/>
          </a:solidFill>
          <a:ln w="10160">
            <a:solidFill>
              <a:srgbClr val="B4C4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" y="969264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4C4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93776" y="1143000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 report-only conversions in parallel with high-severity gaps.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84048" y="143560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Enabled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618488" y="1453896"/>
            <a:ext cx="2400300" cy="155448"/>
          </a:xfrm>
          <a:prstGeom prst="roundRect">
            <a:avLst>
              <a:gd name="adj" fmla="val 11765"/>
            </a:avLst>
          </a:prstGeom>
          <a:solidFill>
            <a:srgbClr val="22D3A6"/>
          </a:solidFill>
          <a:ln w="1270">
            <a:solidFill>
              <a:srgbClr val="22D3A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91940" y="1435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D3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84048" y="1773936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Report-only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618488" y="1792224"/>
            <a:ext cx="1028700" cy="155448"/>
          </a:xfrm>
          <a:prstGeom prst="roundRect">
            <a:avLst>
              <a:gd name="adj" fmla="val 11765"/>
            </a:avLst>
          </a:prstGeom>
          <a:solidFill>
            <a:srgbClr val="FBBF24"/>
          </a:solidFill>
          <a:ln w="127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20340" y="177393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84048" y="2112264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Disabled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618488" y="2130552"/>
            <a:ext cx="685800" cy="155448"/>
          </a:xfrm>
          <a:prstGeom prst="roundRect">
            <a:avLst>
              <a:gd name="adj" fmla="val 11765"/>
            </a:avLst>
          </a:prstGeom>
          <a:solidFill>
            <a:srgbClr val="FF5D6C"/>
          </a:solidFill>
          <a:ln w="1270">
            <a:solidFill>
              <a:srgbClr val="FF5D6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377440" y="2112264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5D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84048" y="2578608"/>
            <a:ext cx="2715768" cy="1097280"/>
          </a:xfrm>
          <a:prstGeom prst="roundRect">
            <a:avLst>
              <a:gd name="adj" fmla="val 3333"/>
            </a:avLst>
          </a:prstGeom>
          <a:solidFill>
            <a:srgbClr val="1C2C47"/>
          </a:solidFill>
          <a:ln w="9525">
            <a:solidFill>
              <a:srgbClr val="2D476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048" y="2578608"/>
            <a:ext cx="36576" cy="1097280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3776" y="2642616"/>
            <a:ext cx="2496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C4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Geolocation Blocks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93776" y="2862072"/>
            <a:ext cx="2496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policies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214116" y="2578608"/>
            <a:ext cx="2715768" cy="1097280"/>
          </a:xfrm>
          <a:prstGeom prst="roundRect">
            <a:avLst>
              <a:gd name="adj" fmla="val 3333"/>
            </a:avLst>
          </a:prstGeom>
          <a:solidFill>
            <a:srgbClr val="1C2C47"/>
          </a:solidFill>
          <a:ln w="9525">
            <a:solidFill>
              <a:srgbClr val="2D476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14116" y="2578608"/>
            <a:ext cx="36576" cy="1097280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23844" y="2642616"/>
            <a:ext cx="2496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C4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MFA Enforcement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323844" y="2862072"/>
            <a:ext cx="2496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policies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044184" y="2578608"/>
            <a:ext cx="2715768" cy="1097280"/>
          </a:xfrm>
          <a:prstGeom prst="roundRect">
            <a:avLst>
              <a:gd name="adj" fmla="val 3333"/>
            </a:avLst>
          </a:prstGeom>
          <a:solidFill>
            <a:srgbClr val="1C2C47"/>
          </a:solidFill>
          <a:ln w="9525">
            <a:solidFill>
              <a:srgbClr val="2D476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44184" y="2578608"/>
            <a:ext cx="36576" cy="1097280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53912" y="2642616"/>
            <a:ext cx="2496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C4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Risk-Based Policies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153912" y="2862072"/>
            <a:ext cx="2496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policies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84048" y="3813048"/>
            <a:ext cx="2715768" cy="1097280"/>
          </a:xfrm>
          <a:prstGeom prst="roundRect">
            <a:avLst>
              <a:gd name="adj" fmla="val 3333"/>
            </a:avLst>
          </a:prstGeom>
          <a:solidFill>
            <a:srgbClr val="1C2C47"/>
          </a:solidFill>
          <a:ln w="9525">
            <a:solidFill>
              <a:srgbClr val="2D476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4048" y="3813048"/>
            <a:ext cx="36576" cy="1097280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3776" y="3877056"/>
            <a:ext cx="2496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C4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 Blocking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93776" y="4096512"/>
            <a:ext cx="2496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policies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14116" y="3813048"/>
            <a:ext cx="2715768" cy="1097280"/>
          </a:xfrm>
          <a:prstGeom prst="roundRect">
            <a:avLst>
              <a:gd name="adj" fmla="val 3333"/>
            </a:avLst>
          </a:prstGeom>
          <a:solidFill>
            <a:srgbClr val="1C2C47"/>
          </a:solidFill>
          <a:ln w="9525">
            <a:solidFill>
              <a:srgbClr val="2D476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14116" y="3813048"/>
            <a:ext cx="36576" cy="1097280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323844" y="3877056"/>
            <a:ext cx="2496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C4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Device and Session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3323844" y="4096512"/>
            <a:ext cx="2496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policies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44184" y="3813048"/>
            <a:ext cx="2715768" cy="1097280"/>
          </a:xfrm>
          <a:prstGeom prst="roundRect">
            <a:avLst>
              <a:gd name="adj" fmla="val 3333"/>
            </a:avLst>
          </a:prstGeom>
          <a:solidFill>
            <a:srgbClr val="1C2C47"/>
          </a:solidFill>
          <a:ln w="9525">
            <a:solidFill>
              <a:srgbClr val="2D476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044184" y="3813048"/>
            <a:ext cx="36576" cy="1097280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153912" y="3877056"/>
            <a:ext cx="2496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C4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Microsoft-managed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153912" y="4096512"/>
            <a:ext cx="2496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policies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06440" y="-1097280"/>
            <a:ext cx="4480560" cy="4480560"/>
          </a:xfrm>
          <a:prstGeom prst="ellipse">
            <a:avLst/>
          </a:prstGeom>
          <a:solidFill>
            <a:srgbClr val="06B6D4">
              <a:alpha val="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12280" y="2011680"/>
            <a:ext cx="3566160" cy="3566160"/>
          </a:xfrm>
          <a:prstGeom prst="ellipse">
            <a:avLst/>
          </a:prstGeom>
          <a:solidFill>
            <a:srgbClr val="06B6D4">
              <a:alpha val="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SUPPORTING ANALYSIS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D476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9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1F5F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Geolocation Strategy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84048" y="658368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geolocation layers are active in the tenant posture.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84048" y="905256"/>
            <a:ext cx="8375904" cy="457200"/>
          </a:xfrm>
          <a:prstGeom prst="roundRect">
            <a:avLst>
              <a:gd name="adj" fmla="val 8000"/>
            </a:avLst>
          </a:prstGeom>
          <a:solidFill>
            <a:srgbClr val="243A5A"/>
          </a:solidFill>
          <a:ln w="10160">
            <a:solidFill>
              <a:srgbClr val="B4C4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" y="969264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4C4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93776" y="1143000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country-specific policy is still report-only.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84048" y="1435608"/>
            <a:ext cx="8375904" cy="960120"/>
          </a:xfrm>
          <a:prstGeom prst="roundRect">
            <a:avLst>
              <a:gd name="adj" fmla="val 3810"/>
            </a:avLst>
          </a:prstGeom>
          <a:solidFill>
            <a:srgbClr val="1C2C47"/>
          </a:solidFill>
          <a:ln w="9525">
            <a:solidFill>
              <a:srgbClr val="2D476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048" y="1435608"/>
            <a:ext cx="36576" cy="960120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" y="1499616"/>
            <a:ext cx="8156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C4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 1 - Catch-all geo block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3776" y="1719072"/>
            <a:ext cx="8156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 policy blocks non-approved countries and allows corporate regions only.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84048" y="2542032"/>
            <a:ext cx="8375904" cy="960120"/>
          </a:xfrm>
          <a:prstGeom prst="roundRect">
            <a:avLst>
              <a:gd name="adj" fmla="val 3810"/>
            </a:avLst>
          </a:prstGeom>
          <a:solidFill>
            <a:srgbClr val="1C2C47"/>
          </a:solidFill>
          <a:ln w="9525">
            <a:solidFill>
              <a:srgbClr val="2D476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4048" y="2542032"/>
            <a:ext cx="36576" cy="960120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" y="2606040"/>
            <a:ext cx="8156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C4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 2 - Country-specific overlays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3776" y="2825496"/>
            <a:ext cx="8156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Country A (Enabled), Country B (Report-only)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84048" y="3648456"/>
            <a:ext cx="8375904" cy="960120"/>
          </a:xfrm>
          <a:prstGeom prst="roundRect">
            <a:avLst>
              <a:gd name="adj" fmla="val 3810"/>
            </a:avLst>
          </a:prstGeom>
          <a:solidFill>
            <a:srgbClr val="1C2C47"/>
          </a:solidFill>
          <a:ln w="9525">
            <a:solidFill>
              <a:srgbClr val="2D476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048" y="3648456"/>
            <a:ext cx="36576" cy="960120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3776" y="3712464"/>
            <a:ext cx="8156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C4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 3 - Trusted office location exclusions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93776" y="3931920"/>
            <a:ext cx="8156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Trusted office locations are excluded from some MFA challenges.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93776" y="4169664"/>
            <a:ext cx="8156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- 18 trusted locations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06440" y="-1097280"/>
            <a:ext cx="4480560" cy="4480560"/>
          </a:xfrm>
          <a:prstGeom prst="ellipse">
            <a:avLst/>
          </a:prstGeom>
          <a:solidFill>
            <a:srgbClr val="06B6D4">
              <a:alpha val="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12280" y="2011680"/>
            <a:ext cx="3566160" cy="3566160"/>
          </a:xfrm>
          <a:prstGeom prst="ellipse">
            <a:avLst/>
          </a:prstGeom>
          <a:solidFill>
            <a:srgbClr val="06B6D4">
              <a:alpha val="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SUPPORTING ANALYSIS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D476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10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1F5F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MFA Enforcement Matrix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84048" y="658368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MFA policy entries were analyzed for scope and control strength.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84048" y="905256"/>
            <a:ext cx="8375904" cy="457200"/>
          </a:xfrm>
          <a:prstGeom prst="roundRect">
            <a:avLst>
              <a:gd name="adj" fmla="val 8000"/>
            </a:avLst>
          </a:prstGeom>
          <a:solidFill>
            <a:srgbClr val="243A5A"/>
          </a:solidFill>
          <a:ln w="10160">
            <a:solidFill>
              <a:srgbClr val="B4C4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" y="969264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4C4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93776" y="1143000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report-only MFA policies have transition plans to enforcement.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84048" y="1435608"/>
            <a:ext cx="8375904" cy="1152144"/>
          </a:xfrm>
          <a:prstGeom prst="roundRect">
            <a:avLst>
              <a:gd name="adj" fmla="val 1587"/>
            </a:avLst>
          </a:prstGeom>
          <a:solidFill>
            <a:srgbClr val="1C2C47"/>
          </a:solidFill>
          <a:ln w="9525">
            <a:solidFill>
              <a:srgbClr val="2D476D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" y="1472184"/>
          <a:ext cx="8302752" cy="1078992"/>
        </p:xfrm>
        <a:graphic>
          <a:graphicData uri="http://schemas.openxmlformats.org/drawingml/2006/table">
            <a:tbl>
              <a:tblPr/>
              <a:tblGrid>
                <a:gridCol w="2011680"/>
                <a:gridCol w="1554480"/>
                <a:gridCol w="1554480"/>
                <a:gridCol w="914400"/>
                <a:gridCol w="219456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Policy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4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Scope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4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Auth strength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4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Frequency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4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Conditions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42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MFA - All users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All users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Built-in MFA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14 days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Trusted locations excluded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MFA - Privileged roles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Admin roles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Built-in MFA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 days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All locations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MFA - Remote workforce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All users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Custom secure MFA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Every sign-in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VPN and high-value apps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384048" y="2715768"/>
            <a:ext cx="8375904" cy="658368"/>
          </a:xfrm>
          <a:prstGeom prst="roundRect">
            <a:avLst>
              <a:gd name="adj" fmla="val 5556"/>
            </a:avLst>
          </a:prstGeom>
          <a:solidFill>
            <a:srgbClr val="4B3812"/>
          </a:solidFill>
          <a:ln w="10160">
            <a:solidFill>
              <a:srgbClr val="FBBF2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93776" y="2779776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Admin MFA posture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93776" y="2953512"/>
            <a:ext cx="8156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Privileged roles should move from standard MFA to phishing-resistant methods.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06440" y="-1097280"/>
            <a:ext cx="4480560" cy="4480560"/>
          </a:xfrm>
          <a:prstGeom prst="ellipse">
            <a:avLst/>
          </a:prstGeom>
          <a:solidFill>
            <a:srgbClr val="06B6D4">
              <a:alpha val="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12280" y="2011680"/>
            <a:ext cx="3566160" cy="3566160"/>
          </a:xfrm>
          <a:prstGeom prst="ellipse">
            <a:avLst/>
          </a:prstGeom>
          <a:solidFill>
            <a:srgbClr val="06B6D4">
              <a:alpha val="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SUPPORTING ANALYSIS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D476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11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1F5F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Identity Risk Policies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84048" y="658368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risk-focused policies were mapped to user and sign-in conditions.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84048" y="905256"/>
            <a:ext cx="8375904" cy="457200"/>
          </a:xfrm>
          <a:prstGeom prst="roundRect">
            <a:avLst>
              <a:gd name="adj" fmla="val 8000"/>
            </a:avLst>
          </a:prstGeom>
          <a:solidFill>
            <a:srgbClr val="243A5A"/>
          </a:solidFill>
          <a:ln w="10160">
            <a:solidFill>
              <a:srgbClr val="B4C4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" y="969264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4C4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93776" y="1143000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High-risk users and high-risk sign-ins should have explicit enforcement and recovery paths.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84048" y="1435608"/>
            <a:ext cx="4105656" cy="2697480"/>
          </a:xfrm>
          <a:prstGeom prst="roundRect">
            <a:avLst>
              <a:gd name="adj" fmla="val 1356"/>
            </a:avLst>
          </a:prstGeom>
          <a:solidFill>
            <a:srgbClr val="1C2C47"/>
          </a:solidFill>
          <a:ln w="9525">
            <a:solidFill>
              <a:srgbClr val="2D476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048" y="1435608"/>
            <a:ext cx="36576" cy="2697480"/>
          </a:xfrm>
          <a:prstGeom prst="rect">
            <a:avLst/>
          </a:prstGeom>
          <a:solidFill>
            <a:srgbClr val="FF5D6C"/>
          </a:solidFill>
          <a:ln w="12700">
            <a:solidFill>
              <a:srgbClr val="FF5D6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" y="1499616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D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 user risk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3776" y="1719072"/>
            <a:ext cx="3886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Risky Users - High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93776" y="1956816"/>
            <a:ext cx="3886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Grant control: MFA + Password Change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Operator: Require ALL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Scope: All users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Modified: 2024-11-19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654296" y="1435608"/>
            <a:ext cx="4105656" cy="2697480"/>
          </a:xfrm>
          <a:prstGeom prst="roundRect">
            <a:avLst>
              <a:gd name="adj" fmla="val 1356"/>
            </a:avLst>
          </a:prstGeom>
          <a:solidFill>
            <a:srgbClr val="1C2C47"/>
          </a:solidFill>
          <a:ln w="9525">
            <a:solidFill>
              <a:srgbClr val="2D476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54296" y="1435608"/>
            <a:ext cx="36576" cy="2697480"/>
          </a:xfrm>
          <a:prstGeom prst="rect">
            <a:avLst/>
          </a:prstGeom>
          <a:solidFill>
            <a:srgbClr val="FF5D6C"/>
          </a:solidFill>
          <a:ln w="12700">
            <a:solidFill>
              <a:srgbClr val="FF5D6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64024" y="1499616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D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 sign-in risk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764024" y="1719072"/>
            <a:ext cx="3886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Risky Sign-ins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764024" y="1956816"/>
            <a:ext cx="3886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Grant control: Require MFA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Operator: Require ONE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Scope: All users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Modified: 2025-01-10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84048" y="4069080"/>
            <a:ext cx="8375904" cy="594360"/>
          </a:xfrm>
          <a:prstGeom prst="roundRect">
            <a:avLst>
              <a:gd name="adj" fmla="val 6154"/>
            </a:avLst>
          </a:prstGeom>
          <a:solidFill>
            <a:srgbClr val="243A5A"/>
          </a:solidFill>
          <a:ln w="10160">
            <a:solidFill>
              <a:srgbClr val="B4C4D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3776" y="4133088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4C4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takeaway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93776" y="4306824"/>
            <a:ext cx="81564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controls are present but privileged user coverage can be tightened.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06440" y="-1097280"/>
            <a:ext cx="4480560" cy="4480560"/>
          </a:xfrm>
          <a:prstGeom prst="ellipse">
            <a:avLst/>
          </a:prstGeom>
          <a:solidFill>
            <a:srgbClr val="06B6D4">
              <a:alpha val="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12280" y="2011680"/>
            <a:ext cx="3566160" cy="3566160"/>
          </a:xfrm>
          <a:prstGeom prst="ellipse">
            <a:avLst/>
          </a:prstGeom>
          <a:solidFill>
            <a:srgbClr val="06B6D4">
              <a:alpha val="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SUPPORTING ANALYSIS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D476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12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1F5F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Authentication Strengths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84048" y="658368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authentication strengths were evaluated for resistance and deployability.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84048" y="905256"/>
            <a:ext cx="8375904" cy="457200"/>
          </a:xfrm>
          <a:prstGeom prst="roundRect">
            <a:avLst>
              <a:gd name="adj" fmla="val 8000"/>
            </a:avLst>
          </a:prstGeom>
          <a:solidFill>
            <a:srgbClr val="243A5A"/>
          </a:solidFill>
          <a:ln w="10160">
            <a:solidFill>
              <a:srgbClr val="B4C4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" y="969264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4C4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93776" y="1143000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Remove phishable factors from admin-facing strengths and map each strength to policy scope.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84048" y="1435608"/>
            <a:ext cx="4105656" cy="1325880"/>
          </a:xfrm>
          <a:prstGeom prst="roundRect">
            <a:avLst>
              <a:gd name="adj" fmla="val 2759"/>
            </a:avLst>
          </a:prstGeom>
          <a:solidFill>
            <a:srgbClr val="1C2C47"/>
          </a:solidFill>
          <a:ln w="9525">
            <a:solidFill>
              <a:srgbClr val="2D476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048" y="1435608"/>
            <a:ext cx="36576" cy="1325880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" y="1499616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C4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Passwordless Admin (Strongest)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3776" y="1719072"/>
            <a:ext cx="3886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Type: Custom | Methods: fido2, windowsHelloForBusiness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93776" y="1956816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Recommended baseline for privileged roles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654296" y="1435608"/>
            <a:ext cx="4105656" cy="1325880"/>
          </a:xfrm>
          <a:prstGeom prst="roundRect">
            <a:avLst>
              <a:gd name="adj" fmla="val 2759"/>
            </a:avLst>
          </a:prstGeom>
          <a:solidFill>
            <a:srgbClr val="1C2C47"/>
          </a:solidFill>
          <a:ln w="9525">
            <a:solidFill>
              <a:srgbClr val="2D476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54296" y="1435608"/>
            <a:ext cx="36576" cy="1325880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64024" y="1499616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C4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 Workforce (Strong)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764024" y="1719072"/>
            <a:ext cx="3886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Type: Built-in | Methods: authenticatorPush, softwareOath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764024" y="1956816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General user coverage is adequate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84048" y="2907792"/>
            <a:ext cx="4105656" cy="1325880"/>
          </a:xfrm>
          <a:prstGeom prst="roundRect">
            <a:avLst>
              <a:gd name="adj" fmla="val 2759"/>
            </a:avLst>
          </a:prstGeom>
          <a:solidFill>
            <a:srgbClr val="1C2C47"/>
          </a:solidFill>
          <a:ln w="9525">
            <a:solidFill>
              <a:srgbClr val="2D476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048" y="2907792"/>
            <a:ext cx="36576" cy="1325880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" y="297180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C4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Legacy Exception (Weak)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93776" y="3191256"/>
            <a:ext cx="3886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Type: Custom | Methods: sms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93776" y="3429000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Should be retired from admin-facing flows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06440" y="-1097280"/>
            <a:ext cx="4480560" cy="4480560"/>
          </a:xfrm>
          <a:prstGeom prst="ellipse">
            <a:avLst/>
          </a:prstGeom>
          <a:solidFill>
            <a:srgbClr val="06B6D4">
              <a:alpha val="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12280" y="2011680"/>
            <a:ext cx="3566160" cy="3566160"/>
          </a:xfrm>
          <a:prstGeom prst="ellipse">
            <a:avLst/>
          </a:prstGeom>
          <a:solidFill>
            <a:srgbClr val="06B6D4">
              <a:alpha val="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SUPPORTING ANALYSIS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D476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13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1F5F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Privileged Access Coverage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84048" y="658368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privileged roles were compared against Conditional Access targeting.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84048" y="905256"/>
            <a:ext cx="8375904" cy="457200"/>
          </a:xfrm>
          <a:prstGeom prst="roundRect">
            <a:avLst>
              <a:gd name="adj" fmla="val 8000"/>
            </a:avLst>
          </a:prstGeom>
          <a:solidFill>
            <a:srgbClr val="243A5A"/>
          </a:solidFill>
          <a:ln w="10160">
            <a:solidFill>
              <a:srgbClr val="B4C4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" y="969264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4C4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93776" y="1143000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Roles without direct policy coverage should be prioritized in roadmap planning.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84048" y="1435608"/>
            <a:ext cx="8375904" cy="1115568"/>
          </a:xfrm>
          <a:prstGeom prst="roundRect">
            <a:avLst>
              <a:gd name="adj" fmla="val 1639"/>
            </a:avLst>
          </a:prstGeom>
          <a:solidFill>
            <a:srgbClr val="1C2C47"/>
          </a:solidFill>
          <a:ln w="9525">
            <a:solidFill>
              <a:srgbClr val="2D476D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" y="1472184"/>
          <a:ext cx="8302752" cy="1042416"/>
        </p:xfrm>
        <a:graphic>
          <a:graphicData uri="http://schemas.openxmlformats.org/drawingml/2006/table">
            <a:tbl>
              <a:tblPr/>
              <a:tblGrid>
                <a:gridCol w="2011680"/>
                <a:gridCol w="685800"/>
                <a:gridCol w="685800"/>
                <a:gridCol w="3977640"/>
                <a:gridCol w="91440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PIM role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4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Eligible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4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Active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4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CA coverage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4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Direct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42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Global Administrator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MFA - Privileged roles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Yes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Privileged Role Administrator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PIM auth context only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Partial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Security Administrator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 direct role-targeted policy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384048" y="2679192"/>
            <a:ext cx="8375904" cy="658368"/>
          </a:xfrm>
          <a:prstGeom prst="roundRect">
            <a:avLst>
              <a:gd name="adj" fmla="val 5556"/>
            </a:avLst>
          </a:prstGeom>
          <a:solidFill>
            <a:srgbClr val="243A5A"/>
          </a:solidFill>
          <a:ln w="10160">
            <a:solidFill>
              <a:srgbClr val="B4C4D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93776" y="2743200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4C4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Coverage note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93776" y="2916936"/>
            <a:ext cx="8156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Partial means role coverage is indirect through shared controls.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06440" y="-1097280"/>
            <a:ext cx="4480560" cy="4480560"/>
          </a:xfrm>
          <a:prstGeom prst="ellipse">
            <a:avLst/>
          </a:prstGeom>
          <a:solidFill>
            <a:srgbClr val="06B6D4">
              <a:alpha val="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12280" y="2011680"/>
            <a:ext cx="3566160" cy="3566160"/>
          </a:xfrm>
          <a:prstGeom prst="ellipse">
            <a:avLst/>
          </a:prstGeom>
          <a:solidFill>
            <a:srgbClr val="06B6D4">
              <a:alpha val="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SUPPORTING ANALYSIS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D476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14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1F5F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Report-only Pipeline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84048" y="658368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report-only entries require staged conversion plans.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84048" y="905256"/>
            <a:ext cx="8375904" cy="457200"/>
          </a:xfrm>
          <a:prstGeom prst="roundRect">
            <a:avLst>
              <a:gd name="adj" fmla="val 8000"/>
            </a:avLst>
          </a:prstGeom>
          <a:solidFill>
            <a:srgbClr val="243A5A"/>
          </a:solidFill>
          <a:ln w="10160">
            <a:solidFill>
              <a:srgbClr val="B4C4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" y="969264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4C4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93776" y="1143000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priority and staleness to define conversion waves.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84048" y="1435608"/>
            <a:ext cx="8375904" cy="1115568"/>
          </a:xfrm>
          <a:prstGeom prst="roundRect">
            <a:avLst>
              <a:gd name="adj" fmla="val 1639"/>
            </a:avLst>
          </a:prstGeom>
          <a:solidFill>
            <a:srgbClr val="1C2C47"/>
          </a:solidFill>
          <a:ln w="9525">
            <a:solidFill>
              <a:srgbClr val="2D476D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" y="1472184"/>
          <a:ext cx="8302752" cy="1042416"/>
        </p:xfrm>
        <a:graphic>
          <a:graphicData uri="http://schemas.openxmlformats.org/drawingml/2006/table">
            <a:tbl>
              <a:tblPr/>
              <a:tblGrid>
                <a:gridCol w="2240280"/>
                <a:gridCol w="1463040"/>
                <a:gridCol w="2011680"/>
                <a:gridCol w="1097280"/>
                <a:gridCol w="82296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Policy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4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Grant control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4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 apps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4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Modified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4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Priority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42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Token protection rollout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Token protection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Exchange + SharePoint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2025-08-05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High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Admin portal geo constraint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Block access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Microsoft Admin Portals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2025-09-02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Medium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BYOD pilot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MFA + Compliant device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Office 365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2026-01-16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Low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384048" y="2679192"/>
            <a:ext cx="8375904" cy="658368"/>
          </a:xfrm>
          <a:prstGeom prst="roundRect">
            <a:avLst>
              <a:gd name="adj" fmla="val 5556"/>
            </a:avLst>
          </a:prstGeom>
          <a:solidFill>
            <a:srgbClr val="4F1E2A"/>
          </a:solidFill>
          <a:ln w="10160">
            <a:solidFill>
              <a:srgbClr val="FF5D6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93776" y="2743200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5D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Execution focus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93776" y="2916936"/>
            <a:ext cx="8156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High-priority report-only items should move into staged enforcement this quarter.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8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06440" y="-1097280"/>
            <a:ext cx="4480560" cy="4480560"/>
          </a:xfrm>
          <a:prstGeom prst="ellipse">
            <a:avLst/>
          </a:prstGeom>
          <a:solidFill>
            <a:srgbClr val="06B6D4">
              <a:alpha val="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12280" y="2011680"/>
            <a:ext cx="3566160" cy="3566160"/>
          </a:xfrm>
          <a:prstGeom prst="ellipse">
            <a:avLst/>
          </a:prstGeom>
          <a:solidFill>
            <a:srgbClr val="06B6D4">
              <a:alpha val="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SUPPORTING ANALYSIS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D476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15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1F5F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Microsoft-managed Overlap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84048" y="658368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auto-created policies were mapped against custom equivalents.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84048" y="905256"/>
            <a:ext cx="8375904" cy="457200"/>
          </a:xfrm>
          <a:prstGeom prst="roundRect">
            <a:avLst>
              <a:gd name="adj" fmla="val 8000"/>
            </a:avLst>
          </a:prstGeom>
          <a:solidFill>
            <a:srgbClr val="243A5A"/>
          </a:solidFill>
          <a:ln w="10160">
            <a:solidFill>
              <a:srgbClr val="B4C4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" y="969264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4C4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93776" y="1143000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Any overlap marked as Gap should move into the high-priority backlog.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84048" y="1435608"/>
            <a:ext cx="8375904" cy="1152144"/>
          </a:xfrm>
          <a:prstGeom prst="roundRect">
            <a:avLst>
              <a:gd name="adj" fmla="val 1587"/>
            </a:avLst>
          </a:prstGeom>
          <a:solidFill>
            <a:srgbClr val="1C2C47"/>
          </a:solidFill>
          <a:ln w="9525">
            <a:solidFill>
              <a:srgbClr val="2D476D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" y="1472184"/>
          <a:ext cx="8302752" cy="1078992"/>
        </p:xfrm>
        <a:graphic>
          <a:graphicData uri="http://schemas.openxmlformats.org/drawingml/2006/table">
            <a:tbl>
              <a:tblPr/>
              <a:tblGrid>
                <a:gridCol w="2331720"/>
                <a:gridCol w="2468880"/>
                <a:gridCol w="2514600"/>
                <a:gridCol w="100584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MS-managed policy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4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What it does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4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Custom equivalent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4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Overlap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42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MFA for admins at admin portals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Requires MFA for core admin roles in admin portals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MFA - Privileged roles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Full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Phishing-resistant MFA for admins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Requires phishing-resistant methods for admin roles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 custom equivalent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Gap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Block legacy authentication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Blocks legacy protocols for all users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Legacy authentication block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Full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384048" y="2715768"/>
            <a:ext cx="8375904" cy="658368"/>
          </a:xfrm>
          <a:prstGeom prst="roundRect">
            <a:avLst>
              <a:gd name="adj" fmla="val 5556"/>
            </a:avLst>
          </a:prstGeom>
          <a:solidFill>
            <a:srgbClr val="4F1E2A"/>
          </a:solidFill>
          <a:ln w="10160">
            <a:solidFill>
              <a:srgbClr val="FF5D6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93776" y="2779776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5D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Critical gap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93776" y="2953512"/>
            <a:ext cx="8156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fully equivalent custom policy enforces phishing-resistant admin MFA.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8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06440" y="-1097280"/>
            <a:ext cx="4480560" cy="4480560"/>
          </a:xfrm>
          <a:prstGeom prst="ellipse">
            <a:avLst/>
          </a:prstGeom>
          <a:solidFill>
            <a:srgbClr val="06B6D4">
              <a:alpha val="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12280" y="2011680"/>
            <a:ext cx="3566160" cy="3566160"/>
          </a:xfrm>
          <a:prstGeom prst="ellipse">
            <a:avLst/>
          </a:prstGeom>
          <a:solidFill>
            <a:srgbClr val="06B6D4">
              <a:alpha val="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SUPPORTING ANALYSIS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D476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16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1F5F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 Inventory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84048" y="658368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 recommendation items were grouped by severity for implementation planning.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84048" y="905256"/>
            <a:ext cx="8375904" cy="457200"/>
          </a:xfrm>
          <a:prstGeom prst="roundRect">
            <a:avLst>
              <a:gd name="adj" fmla="val 8000"/>
            </a:avLst>
          </a:prstGeom>
          <a:solidFill>
            <a:srgbClr val="243A5A"/>
          </a:solidFill>
          <a:ln w="10160">
            <a:solidFill>
              <a:srgbClr val="B4C4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" y="969264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4C4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93776" y="1143000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Drive near-term delivery from the High group and keep Medium on a dated transition plan.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84048" y="1435608"/>
            <a:ext cx="8375904" cy="493776"/>
          </a:xfrm>
          <a:prstGeom prst="roundRect">
            <a:avLst>
              <a:gd name="adj" fmla="val 7407"/>
            </a:avLst>
          </a:prstGeom>
          <a:solidFill>
            <a:srgbClr val="1C2C47"/>
          </a:solidFill>
          <a:ln w="9525">
            <a:solidFill>
              <a:srgbClr val="2D476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048" y="1435608"/>
            <a:ext cx="36576" cy="493776"/>
          </a:xfrm>
          <a:prstGeom prst="rect">
            <a:avLst/>
          </a:prstGeom>
          <a:solidFill>
            <a:srgbClr val="FF5D6C"/>
          </a:solidFill>
          <a:ln w="12700">
            <a:solidFill>
              <a:srgbClr val="FF5D6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" y="1499616"/>
            <a:ext cx="8156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D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 priority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3776" y="1719072"/>
            <a:ext cx="8156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 phishing-resistant MFA for privileged roles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84048" y="1965960"/>
            <a:ext cx="8375904" cy="493776"/>
          </a:xfrm>
          <a:prstGeom prst="roundRect">
            <a:avLst>
              <a:gd name="adj" fmla="val 7407"/>
            </a:avLst>
          </a:prstGeom>
          <a:solidFill>
            <a:srgbClr val="1C2C47"/>
          </a:solidFill>
          <a:ln w="9525">
            <a:solidFill>
              <a:srgbClr val="2D476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4048" y="1965960"/>
            <a:ext cx="36576" cy="493776"/>
          </a:xfrm>
          <a:prstGeom prst="rect">
            <a:avLst/>
          </a:prstGeom>
          <a:solidFill>
            <a:srgbClr val="FF5D6C"/>
          </a:solidFill>
          <a:ln w="12700">
            <a:solidFill>
              <a:srgbClr val="FF5D6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" y="2029968"/>
            <a:ext cx="8156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D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 priority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3776" y="2249424"/>
            <a:ext cx="8156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Enable token protection controls for core workloads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84048" y="2496312"/>
            <a:ext cx="8375904" cy="493776"/>
          </a:xfrm>
          <a:prstGeom prst="roundRect">
            <a:avLst>
              <a:gd name="adj" fmla="val 7407"/>
            </a:avLst>
          </a:prstGeom>
          <a:solidFill>
            <a:srgbClr val="1C2C47"/>
          </a:solidFill>
          <a:ln w="9525">
            <a:solidFill>
              <a:srgbClr val="2D476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048" y="2496312"/>
            <a:ext cx="36576" cy="493776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3776" y="2560320"/>
            <a:ext cx="8156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Medium priority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93776" y="2779776"/>
            <a:ext cx="8156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Convert stale report-only controls with staged rollout windows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84048" y="3026664"/>
            <a:ext cx="8375904" cy="493776"/>
          </a:xfrm>
          <a:prstGeom prst="roundRect">
            <a:avLst>
              <a:gd name="adj" fmla="val 7407"/>
            </a:avLst>
          </a:prstGeom>
          <a:solidFill>
            <a:srgbClr val="1C2C47"/>
          </a:solidFill>
          <a:ln w="9525">
            <a:solidFill>
              <a:srgbClr val="2D476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4048" y="3026664"/>
            <a:ext cx="36576" cy="493776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3776" y="3090672"/>
            <a:ext cx="8156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Medium priority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93776" y="3310128"/>
            <a:ext cx="8156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direct CA targeting for uncovered privileged roles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84048" y="3557016"/>
            <a:ext cx="8375904" cy="493776"/>
          </a:xfrm>
          <a:prstGeom prst="roundRect">
            <a:avLst>
              <a:gd name="adj" fmla="val 7407"/>
            </a:avLst>
          </a:prstGeom>
          <a:solidFill>
            <a:srgbClr val="1C2C47"/>
          </a:solidFill>
          <a:ln w="9525">
            <a:solidFill>
              <a:srgbClr val="2D476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4048" y="3557016"/>
            <a:ext cx="36576" cy="493776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3776" y="3621024"/>
            <a:ext cx="8156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C4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 priority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93776" y="3840480"/>
            <a:ext cx="8156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Retire low-value legacy exceptions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8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06440" y="-1097280"/>
            <a:ext cx="4480560" cy="4480560"/>
          </a:xfrm>
          <a:prstGeom prst="ellipse">
            <a:avLst/>
          </a:prstGeom>
          <a:solidFill>
            <a:srgbClr val="06B6D4">
              <a:alpha val="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12280" y="2011680"/>
            <a:ext cx="3566160" cy="3566160"/>
          </a:xfrm>
          <a:prstGeom prst="ellipse">
            <a:avLst/>
          </a:prstGeom>
          <a:solidFill>
            <a:srgbClr val="06B6D4">
              <a:alpha val="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D476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17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3243E"/>
          </a:solidFill>
          <a:ln w="12700">
            <a:solidFill>
              <a:srgbClr val="1324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142E"/>
          </a:solidFill>
          <a:ln w="12700">
            <a:solidFill>
              <a:srgbClr val="0814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2011680"/>
            <a:ext cx="8375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1F5F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Appendix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84048" y="2542032"/>
            <a:ext cx="8375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Policy inventory and detail are separated from the executive narrative.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8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06440" y="-1097280"/>
            <a:ext cx="4480560" cy="4480560"/>
          </a:xfrm>
          <a:prstGeom prst="ellipse">
            <a:avLst/>
          </a:prstGeom>
          <a:solidFill>
            <a:srgbClr val="06B6D4">
              <a:alpha val="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12280" y="2011680"/>
            <a:ext cx="3566160" cy="3566160"/>
          </a:xfrm>
          <a:prstGeom prst="ellipse">
            <a:avLst/>
          </a:prstGeom>
          <a:solidFill>
            <a:srgbClr val="06B6D4">
              <a:alpha val="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D476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18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1F5F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Full Policy Matrix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84048" y="658368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policies are listed with state, action, scope summary, and modified date.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84048" y="905256"/>
            <a:ext cx="8375904" cy="457200"/>
          </a:xfrm>
          <a:prstGeom prst="roundRect">
            <a:avLst>
              <a:gd name="adj" fmla="val 8000"/>
            </a:avLst>
          </a:prstGeom>
          <a:solidFill>
            <a:srgbClr val="243A5A"/>
          </a:solidFill>
          <a:ln w="10160">
            <a:solidFill>
              <a:srgbClr val="B4C4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" y="969264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4C4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93776" y="1143000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appendix inventory is optimized for export and audit reference.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84048" y="1435608"/>
            <a:ext cx="8375904" cy="2980944"/>
          </a:xfrm>
          <a:prstGeom prst="roundRect">
            <a:avLst>
              <a:gd name="adj" fmla="val 613"/>
            </a:avLst>
          </a:prstGeom>
          <a:solidFill>
            <a:srgbClr val="1C2C47"/>
          </a:solidFill>
          <a:ln w="9525">
            <a:solidFill>
              <a:srgbClr val="2D476D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" y="1472184"/>
          <a:ext cx="8302752" cy="2907792"/>
        </p:xfrm>
        <a:graphic>
          <a:graphicData uri="http://schemas.openxmlformats.org/drawingml/2006/table">
            <a:tbl>
              <a:tblPr/>
              <a:tblGrid>
                <a:gridCol w="320040"/>
                <a:gridCol w="2468880"/>
                <a:gridCol w="868680"/>
                <a:gridCol w="685800"/>
                <a:gridCol w="3017520"/>
                <a:gridCol w="10058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#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4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Policy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4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State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4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Action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4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Scope summary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4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Modified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42E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Legacy authentication block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Enabled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Block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Users: All users, Apps: All cloud apps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2025-03-04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MFA - All users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Enabled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Grant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Users: All users, Apps: All cloud apps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2025-04-18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MFA - Privileged roles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Enabled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Grant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Apps: All cloud apps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2025-06-01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Risky Users - High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Enabled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Grant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Users: All users, Apps: All cloud apps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2024-11-19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Risky Sign-ins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Enabled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Grant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Users: All users, Apps: All cloud apps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2025-01-10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Geolocation catch-all block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Enabled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Block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Users: All users, Apps: All cloud apps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2025-02-14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Device registration control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Enabled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Grant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Users: All users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2025-05-20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Token protection rollout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Report-only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Grant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Users: All users, Apps: Office 365 Exchange Online, Mic...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2025-08-05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Admin portal geo control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Report-only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Block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Apps: Microsoft Admin Portals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2025-09-02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10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BYOD pilot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Report-only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Grant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Groups: Mobile Workforce, Apps: Office 365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2026-01-16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11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Microsoft-managed: Phishing-resistant MFA for admins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Disabled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Grant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Apps: All cloud apps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2024-12-12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47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12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Microsoft-managed: Require MFA for admins at admin portals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Disabled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Grant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Apps: Microsoft Admin Portals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CE5F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2024-12-12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7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8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06440" y="-1097280"/>
            <a:ext cx="4480560" cy="4480560"/>
          </a:xfrm>
          <a:prstGeom prst="ellipse">
            <a:avLst/>
          </a:prstGeom>
          <a:solidFill>
            <a:srgbClr val="06B6D4">
              <a:alpha val="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12280" y="2011680"/>
            <a:ext cx="3566160" cy="3566160"/>
          </a:xfrm>
          <a:prstGeom prst="ellipse">
            <a:avLst/>
          </a:prstGeom>
          <a:solidFill>
            <a:srgbClr val="06B6D4">
              <a:alpha val="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D476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19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84048" y="292608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1F5F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Legacy authentication block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84048" y="9418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Modified: 2025-03-04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040880" y="347472"/>
            <a:ext cx="1719072" cy="329184"/>
          </a:xfrm>
          <a:prstGeom prst="roundRect">
            <a:avLst>
              <a:gd name="adj" fmla="val 22222"/>
            </a:avLst>
          </a:prstGeom>
          <a:solidFill>
            <a:srgbClr val="0B3A35"/>
          </a:solidFill>
          <a:ln w="12700">
            <a:solidFill>
              <a:srgbClr val="22D3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40880" y="41605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D3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ENABLED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4048" y="128016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84048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Platforms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57200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077517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50669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Locations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150669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770986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06B6D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70986" y="1444752"/>
            <a:ext cx="22860" cy="40233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4138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 Apps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844138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exchangeActiveSync, other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5464454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37606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537606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7157923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31075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Devices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231075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84048" y="1920240"/>
            <a:ext cx="1874520" cy="2542032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4048" y="1920240"/>
            <a:ext cx="27432" cy="2542032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" y="19842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D3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66928" y="2194560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Include users: All users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75488" y="2404872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5D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66928" y="2404872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Exclude users: Break glass account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423160" y="1993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5D6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Block access</a:t>
            </a:r>
            <a:endParaRPr lang="en-US" sz="2200" dirty="0"/>
          </a:p>
        </p:txBody>
      </p:sp>
      <p:sp>
        <p:nvSpPr>
          <p:cNvPr id="38" name="Shape 36"/>
          <p:cNvSpPr/>
          <p:nvPr/>
        </p:nvSpPr>
        <p:spPr>
          <a:xfrm>
            <a:off x="2423160" y="2240280"/>
            <a:ext cx="2679192" cy="0"/>
          </a:xfrm>
          <a:prstGeom prst="line">
            <a:avLst/>
          </a:prstGeom>
          <a:noFill/>
          <a:ln w="25400">
            <a:solidFill>
              <a:srgbClr val="FF5D6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102352" y="2176272"/>
            <a:ext cx="109728" cy="128016"/>
          </a:xfrm>
          <a:prstGeom prst="chevron">
            <a:avLst/>
          </a:prstGeom>
          <a:solidFill>
            <a:srgbClr val="FF5D6C"/>
          </a:solidFill>
          <a:ln w="12700">
            <a:solidFill>
              <a:srgbClr val="FF5D6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423160" y="2340864"/>
            <a:ext cx="2788920" cy="2121408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423160" y="2340864"/>
            <a:ext cx="27432" cy="2121408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14600" y="2404872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GRANT CONTROLS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514600" y="2596896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 ONE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514600" y="28346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97480" y="28346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Multifactor authentication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514600" y="29946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697480" y="29946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Authentication strength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514600" y="31546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697480" y="31546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Compliant device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514600" y="33147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697480" y="33147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Hybrid Azure AD joined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514600" y="347472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697480" y="347472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client app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514600" y="36347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2697480" y="36347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protection policy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514600" y="37947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2697480" y="37947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 password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2514600" y="39547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2697480" y="39547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Terms of use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5340096" y="1920240"/>
            <a:ext cx="3419856" cy="987552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340096" y="1920240"/>
            <a:ext cx="27432" cy="987552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31536" y="1984248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APPS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5431536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D3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5522976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Include: All cloud apps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5340096" y="2980944"/>
            <a:ext cx="3419856" cy="1481328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340096" y="2980944"/>
            <a:ext cx="27432" cy="1481328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431536" y="3044952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 CONTROLS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5431536" y="327355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5614416" y="327355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enforced restrictions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5431536" y="340156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5614416" y="340156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 Access App Control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431536" y="3529584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5614416" y="3529584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Sign-in frequency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5431536" y="365760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5614416" y="365760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Persistent browser session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5431536" y="378561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5614416" y="378561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Continuous access evaluation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5431536" y="391363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5614416" y="391363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Disable resilience defaults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5431536" y="404164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5614416" y="404164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 protection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384048" y="4924044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Policy 1 of 12 | ID p-001</a:t>
            </a:r>
            <a:endParaRPr lang="en-US" sz="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8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06440" y="-1097280"/>
            <a:ext cx="4480560" cy="4480560"/>
          </a:xfrm>
          <a:prstGeom prst="ellipse">
            <a:avLst/>
          </a:prstGeom>
          <a:solidFill>
            <a:srgbClr val="06B6D4">
              <a:alpha val="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12280" y="2011680"/>
            <a:ext cx="3566160" cy="3566160"/>
          </a:xfrm>
          <a:prstGeom prst="ellipse">
            <a:avLst/>
          </a:prstGeom>
          <a:solidFill>
            <a:srgbClr val="06B6D4">
              <a:alpha val="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D476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20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84048" y="292608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1F5F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MFA - All users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84048" y="9418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Modified: 2025-04-18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040880" y="347472"/>
            <a:ext cx="1719072" cy="329184"/>
          </a:xfrm>
          <a:prstGeom prst="roundRect">
            <a:avLst>
              <a:gd name="adj" fmla="val 22222"/>
            </a:avLst>
          </a:prstGeom>
          <a:solidFill>
            <a:srgbClr val="0B3A35"/>
          </a:solidFill>
          <a:ln w="12700">
            <a:solidFill>
              <a:srgbClr val="22D3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40880" y="41605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D3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ENABLED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4048" y="128016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84048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Platforms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57200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077517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06B6D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77517" y="1444752"/>
            <a:ext cx="22860" cy="40233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50669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Locations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150669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Exclude: Trusted office networks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3770986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06B6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70986" y="1444752"/>
            <a:ext cx="22860" cy="40233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44138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 Apps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844138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browser, mobileAppsAndDesktopClients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5464454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37606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537606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7157923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31075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Devices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231075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384048" y="1920240"/>
            <a:ext cx="1874520" cy="2542032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84048" y="1920240"/>
            <a:ext cx="27432" cy="2542032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5488" y="19842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75488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D3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66928" y="2194560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Include users: All users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" y="2404872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5D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66928" y="2404872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Exclude groups: Service Accounts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423160" y="1993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D3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Grant access</a:t>
            </a:r>
            <a:endParaRPr lang="en-US" sz="2200" dirty="0"/>
          </a:p>
        </p:txBody>
      </p:sp>
      <p:sp>
        <p:nvSpPr>
          <p:cNvPr id="39" name="Shape 37"/>
          <p:cNvSpPr/>
          <p:nvPr/>
        </p:nvSpPr>
        <p:spPr>
          <a:xfrm>
            <a:off x="2423160" y="2240280"/>
            <a:ext cx="2679192" cy="0"/>
          </a:xfrm>
          <a:prstGeom prst="line">
            <a:avLst/>
          </a:prstGeom>
          <a:noFill/>
          <a:ln w="25400">
            <a:solidFill>
              <a:srgbClr val="22D3A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102352" y="2176272"/>
            <a:ext cx="109728" cy="128016"/>
          </a:xfrm>
          <a:prstGeom prst="chevron">
            <a:avLst/>
          </a:prstGeom>
          <a:solidFill>
            <a:srgbClr val="22D3A6"/>
          </a:solidFill>
          <a:ln w="12700">
            <a:solidFill>
              <a:srgbClr val="22D3A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423160" y="2340864"/>
            <a:ext cx="2788920" cy="2121408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423160" y="2340864"/>
            <a:ext cx="27432" cy="2121408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14600" y="2404872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GRANT CONTROLS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514600" y="2596896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 ONE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514600" y="28346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[x]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97480" y="28346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Multifactor authentication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514600" y="29946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697480" y="29946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Authentication strength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514600" y="31546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697480" y="31546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Compliant device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514600" y="33147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697480" y="33147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Hybrid Azure AD joined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514600" y="347472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697480" y="347472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client app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2514600" y="36347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697480" y="36347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protection policy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2514600" y="37947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2697480" y="37947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 password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2514600" y="39547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2697480" y="39547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Terms of use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5340096" y="1920240"/>
            <a:ext cx="3419856" cy="987552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340096" y="1920240"/>
            <a:ext cx="27432" cy="987552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431536" y="1984248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APPS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5431536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D3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5522976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Include: All cloud apps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5340096" y="2980944"/>
            <a:ext cx="3419856" cy="1481328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340096" y="2980944"/>
            <a:ext cx="27432" cy="1481328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431536" y="3044952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 CONTROLS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5431536" y="3236976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Sign-in frequency: 14 days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5431536" y="347472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5614416" y="347472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enforced restrictions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431536" y="360273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5614416" y="360273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 Access App Control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5431536" y="373075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[x]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5614416" y="373075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Sign-in frequency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5431536" y="385876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5614416" y="385876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Persistent browser session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5431536" y="3986784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5614416" y="3986784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Continuous access evaluation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5431536" y="411480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5614416" y="411480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Disable resilience defaults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5431536" y="424281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5614416" y="424281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 protection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384048" y="4924044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Policy 2 of 12 | ID p-002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8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06440" y="-1097280"/>
            <a:ext cx="4480560" cy="4480560"/>
          </a:xfrm>
          <a:prstGeom prst="ellipse">
            <a:avLst/>
          </a:prstGeom>
          <a:solidFill>
            <a:srgbClr val="06B6D4">
              <a:alpha val="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12280" y="2011680"/>
            <a:ext cx="3566160" cy="3566160"/>
          </a:xfrm>
          <a:prstGeom prst="ellipse">
            <a:avLst/>
          </a:prstGeom>
          <a:solidFill>
            <a:srgbClr val="06B6D4">
              <a:alpha val="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D476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21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84048" y="292608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1F5F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MFA - Privileged roles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84048" y="9418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Modified: 2025-06-01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040880" y="347472"/>
            <a:ext cx="1719072" cy="329184"/>
          </a:xfrm>
          <a:prstGeom prst="roundRect">
            <a:avLst>
              <a:gd name="adj" fmla="val 22222"/>
            </a:avLst>
          </a:prstGeom>
          <a:solidFill>
            <a:srgbClr val="0B3A35"/>
          </a:solidFill>
          <a:ln w="12700">
            <a:solidFill>
              <a:srgbClr val="22D3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40880" y="41605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D3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ENABLED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4048" y="128016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84048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Platforms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57200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077517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06B6D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77517" y="1444752"/>
            <a:ext cx="22860" cy="40233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50669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Locations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150669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locations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3770986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4138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 Apps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844138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5464454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37606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537606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7157923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31075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Devices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231075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84048" y="1920240"/>
            <a:ext cx="1874520" cy="2542032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4048" y="1920240"/>
            <a:ext cx="27432" cy="2542032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" y="19842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D3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66928" y="2194560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Include roles: Global Administrator, Security Administrator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423160" y="1993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D3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Grant access</a:t>
            </a:r>
            <a:endParaRPr lang="en-US" sz="2200" dirty="0"/>
          </a:p>
        </p:txBody>
      </p:sp>
      <p:sp>
        <p:nvSpPr>
          <p:cNvPr id="36" name="Shape 34"/>
          <p:cNvSpPr/>
          <p:nvPr/>
        </p:nvSpPr>
        <p:spPr>
          <a:xfrm>
            <a:off x="2423160" y="2240280"/>
            <a:ext cx="2679192" cy="0"/>
          </a:xfrm>
          <a:prstGeom prst="line">
            <a:avLst/>
          </a:prstGeom>
          <a:noFill/>
          <a:ln w="25400">
            <a:solidFill>
              <a:srgbClr val="22D3A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02352" y="2176272"/>
            <a:ext cx="109728" cy="128016"/>
          </a:xfrm>
          <a:prstGeom prst="chevron">
            <a:avLst/>
          </a:prstGeom>
          <a:solidFill>
            <a:srgbClr val="22D3A6"/>
          </a:solidFill>
          <a:ln w="12700">
            <a:solidFill>
              <a:srgbClr val="22D3A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423160" y="2340864"/>
            <a:ext cx="2788920" cy="2121408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423160" y="2340864"/>
            <a:ext cx="27432" cy="2121408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514600" y="2404872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GRANT CONTROLS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514600" y="2596896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 ALL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514600" y="28346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[x]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8346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Multifactor authentication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514600" y="29946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[x]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97480" y="29946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Authentication strength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514600" y="31546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697480" y="31546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Compliant device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514600" y="33147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697480" y="33147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Hybrid Azure AD joined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514600" y="347472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697480" y="347472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client app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514600" y="36347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697480" y="36347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protection policy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514600" y="37947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2697480" y="37947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 password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514600" y="39547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2697480" y="39547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Terms of use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5340096" y="1920240"/>
            <a:ext cx="3419856" cy="987552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340096" y="1920240"/>
            <a:ext cx="27432" cy="987552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31536" y="1984248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APPS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5431536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D3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5522976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Include: All cloud apps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340096" y="2980944"/>
            <a:ext cx="3419856" cy="1481328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340096" y="2980944"/>
            <a:ext cx="27432" cy="1481328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431536" y="3044952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 CONTROLS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5431536" y="3236976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Sign-in frequency: 7 days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5431536" y="347472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5614416" y="347472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enforced restrictions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5431536" y="360273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5614416" y="360273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 Access App Control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5431536" y="373075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[x]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5614416" y="373075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Sign-in frequency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431536" y="385876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5614416" y="385876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Persistent browser session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5431536" y="3986784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5614416" y="3986784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Continuous access evaluation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5431536" y="411480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5614416" y="411480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Disable resilience defaults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5431536" y="424281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5614416" y="424281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 protection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384048" y="4924044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Policy 3 of 12 | ID p-003</a:t>
            </a:r>
            <a:endParaRPr lang="en-US" sz="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8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06440" y="-1097280"/>
            <a:ext cx="4480560" cy="4480560"/>
          </a:xfrm>
          <a:prstGeom prst="ellipse">
            <a:avLst/>
          </a:prstGeom>
          <a:solidFill>
            <a:srgbClr val="06B6D4">
              <a:alpha val="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12280" y="2011680"/>
            <a:ext cx="3566160" cy="3566160"/>
          </a:xfrm>
          <a:prstGeom prst="ellipse">
            <a:avLst/>
          </a:prstGeom>
          <a:solidFill>
            <a:srgbClr val="06B6D4">
              <a:alpha val="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D476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22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84048" y="292608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1F5F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Risky Users - High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84048" y="9418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Modified: 2024-11-19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040880" y="347472"/>
            <a:ext cx="1719072" cy="329184"/>
          </a:xfrm>
          <a:prstGeom prst="roundRect">
            <a:avLst>
              <a:gd name="adj" fmla="val 22222"/>
            </a:avLst>
          </a:prstGeom>
          <a:solidFill>
            <a:srgbClr val="0B3A35"/>
          </a:solidFill>
          <a:ln w="12700">
            <a:solidFill>
              <a:srgbClr val="22D3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40880" y="41605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D3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ENABLED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4048" y="128016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84048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Platforms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57200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077517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50669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Locations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150669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770986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4138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 Apps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844138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464454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37606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537606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7157923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31075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Devices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231075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384048" y="1920240"/>
            <a:ext cx="1874520" cy="2542032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4048" y="1920240"/>
            <a:ext cx="27432" cy="2542032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5488" y="19842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5488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D3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66928" y="2194560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Include users: All users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423160" y="1993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D3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Grant access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2423160" y="2240280"/>
            <a:ext cx="2679192" cy="0"/>
          </a:xfrm>
          <a:prstGeom prst="line">
            <a:avLst/>
          </a:prstGeom>
          <a:noFill/>
          <a:ln w="25400">
            <a:solidFill>
              <a:srgbClr val="22D3A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02352" y="2176272"/>
            <a:ext cx="109728" cy="128016"/>
          </a:xfrm>
          <a:prstGeom prst="chevron">
            <a:avLst/>
          </a:prstGeom>
          <a:solidFill>
            <a:srgbClr val="22D3A6"/>
          </a:solidFill>
          <a:ln w="12700">
            <a:solidFill>
              <a:srgbClr val="22D3A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3160" y="2340864"/>
            <a:ext cx="2788920" cy="2121408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423160" y="2340864"/>
            <a:ext cx="27432" cy="2121408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514600" y="2404872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GRANT CONTROLS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514600" y="2596896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 ALL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514600" y="28346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[x]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697480" y="28346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Multifactor authentication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514600" y="29946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697480" y="29946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Authentication strength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514600" y="31546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97480" y="31546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Compliant device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514600" y="33147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697480" y="33147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Hybrid Azure AD joined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514600" y="347472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697480" y="347472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client app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514600" y="36347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697480" y="36347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protection policy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514600" y="37947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[x]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697480" y="37947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 password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2514600" y="39547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697480" y="39547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Terms of use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5340096" y="1920240"/>
            <a:ext cx="3419856" cy="987552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340096" y="1920240"/>
            <a:ext cx="27432" cy="987552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431536" y="1984248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APPS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431536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D3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5522976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Include: All cloud apps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340096" y="2980944"/>
            <a:ext cx="3419856" cy="1481328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340096" y="2980944"/>
            <a:ext cx="27432" cy="1481328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431536" y="3044952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 CONTROLS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5431536" y="327355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5614416" y="327355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enforced restrictions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5431536" y="340156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5614416" y="340156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 Access App Control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5431536" y="3529584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5614416" y="3529584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Sign-in frequency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5431536" y="365760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5614416" y="365760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Persistent browser session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431536" y="378561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5614416" y="378561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Continuous access evaluation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5431536" y="391363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5614416" y="391363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Disable resilience defaults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5431536" y="404164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5614416" y="404164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 protection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384048" y="4924044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Policy 4 of 12 | ID p-004</a:t>
            </a:r>
            <a:endParaRPr lang="en-US" sz="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8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06440" y="-1097280"/>
            <a:ext cx="4480560" cy="4480560"/>
          </a:xfrm>
          <a:prstGeom prst="ellipse">
            <a:avLst/>
          </a:prstGeom>
          <a:solidFill>
            <a:srgbClr val="06B6D4">
              <a:alpha val="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12280" y="2011680"/>
            <a:ext cx="3566160" cy="3566160"/>
          </a:xfrm>
          <a:prstGeom prst="ellipse">
            <a:avLst/>
          </a:prstGeom>
          <a:solidFill>
            <a:srgbClr val="06B6D4">
              <a:alpha val="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D476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23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84048" y="292608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1F5F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Risky Sign-ins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84048" y="9418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Modified: 2025-01-10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040880" y="347472"/>
            <a:ext cx="1719072" cy="329184"/>
          </a:xfrm>
          <a:prstGeom prst="roundRect">
            <a:avLst>
              <a:gd name="adj" fmla="val 22222"/>
            </a:avLst>
          </a:prstGeom>
          <a:solidFill>
            <a:srgbClr val="0B3A35"/>
          </a:solidFill>
          <a:ln w="12700">
            <a:solidFill>
              <a:srgbClr val="22D3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40880" y="41605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D3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ENABLED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4048" y="128016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84048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Platforms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57200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077517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50669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Locations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150669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770986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4138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 Apps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844138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464454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37606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537606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7157923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31075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Devices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231075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384048" y="1920240"/>
            <a:ext cx="1874520" cy="2542032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4048" y="1920240"/>
            <a:ext cx="27432" cy="2542032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5488" y="19842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5488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D3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66928" y="2194560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Include users: All users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423160" y="1993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D3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Grant access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2423160" y="2240280"/>
            <a:ext cx="2679192" cy="0"/>
          </a:xfrm>
          <a:prstGeom prst="line">
            <a:avLst/>
          </a:prstGeom>
          <a:noFill/>
          <a:ln w="25400">
            <a:solidFill>
              <a:srgbClr val="22D3A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02352" y="2176272"/>
            <a:ext cx="109728" cy="128016"/>
          </a:xfrm>
          <a:prstGeom prst="chevron">
            <a:avLst/>
          </a:prstGeom>
          <a:solidFill>
            <a:srgbClr val="22D3A6"/>
          </a:solidFill>
          <a:ln w="12700">
            <a:solidFill>
              <a:srgbClr val="22D3A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3160" y="2340864"/>
            <a:ext cx="2788920" cy="2121408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423160" y="2340864"/>
            <a:ext cx="27432" cy="2121408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514600" y="2404872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GRANT CONTROLS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514600" y="2596896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 ONE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514600" y="28346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[x]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697480" y="28346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Multifactor authentication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514600" y="29946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697480" y="29946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Authentication strength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514600" y="31546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97480" y="31546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Compliant device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514600" y="33147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697480" y="33147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Hybrid Azure AD joined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514600" y="347472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697480" y="347472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client app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514600" y="36347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697480" y="36347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protection policy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514600" y="37947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697480" y="37947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 password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2514600" y="39547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697480" y="39547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Terms of use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5340096" y="1920240"/>
            <a:ext cx="3419856" cy="987552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340096" y="1920240"/>
            <a:ext cx="27432" cy="987552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431536" y="1984248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APPS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431536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D3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5522976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Include: All cloud apps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340096" y="2980944"/>
            <a:ext cx="3419856" cy="1481328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340096" y="2980944"/>
            <a:ext cx="27432" cy="1481328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431536" y="3044952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 CONTROLS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5431536" y="327355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5614416" y="327355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enforced restrictions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5431536" y="340156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5614416" y="340156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 Access App Control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5431536" y="3529584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5614416" y="3529584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Sign-in frequency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5431536" y="365760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5614416" y="365760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Persistent browser session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431536" y="378561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5614416" y="378561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Continuous access evaluation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5431536" y="391363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5614416" y="391363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Disable resilience defaults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5431536" y="404164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5614416" y="404164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 protection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384048" y="4924044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Policy 5 of 12 | ID p-005</a:t>
            </a:r>
            <a:endParaRPr lang="en-US" sz="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8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06440" y="-1097280"/>
            <a:ext cx="4480560" cy="4480560"/>
          </a:xfrm>
          <a:prstGeom prst="ellipse">
            <a:avLst/>
          </a:prstGeom>
          <a:solidFill>
            <a:srgbClr val="06B6D4">
              <a:alpha val="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12280" y="2011680"/>
            <a:ext cx="3566160" cy="3566160"/>
          </a:xfrm>
          <a:prstGeom prst="ellipse">
            <a:avLst/>
          </a:prstGeom>
          <a:solidFill>
            <a:srgbClr val="06B6D4">
              <a:alpha val="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D476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24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84048" y="292608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1F5F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Geolocation catch-all block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84048" y="9418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Modified: 2025-02-14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040880" y="347472"/>
            <a:ext cx="1719072" cy="329184"/>
          </a:xfrm>
          <a:prstGeom prst="roundRect">
            <a:avLst>
              <a:gd name="adj" fmla="val 22222"/>
            </a:avLst>
          </a:prstGeom>
          <a:solidFill>
            <a:srgbClr val="0B3A35"/>
          </a:solidFill>
          <a:ln w="12700">
            <a:solidFill>
              <a:srgbClr val="22D3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40880" y="41605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D3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ENABLED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4048" y="128016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84048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Platforms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57200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077517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06B6D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77517" y="1444752"/>
            <a:ext cx="22860" cy="40233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50669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Locations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150669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| excl: CA, US, +1 more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3770986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4138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 Apps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844138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5464454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37606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537606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7157923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31075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Devices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231075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84048" y="1920240"/>
            <a:ext cx="1874520" cy="2542032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4048" y="1920240"/>
            <a:ext cx="27432" cy="2542032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" y="19842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D3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66928" y="2194560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Include users: All users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423160" y="1993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5D6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Block access</a:t>
            </a:r>
            <a:endParaRPr lang="en-US" sz="2200" dirty="0"/>
          </a:p>
        </p:txBody>
      </p:sp>
      <p:sp>
        <p:nvSpPr>
          <p:cNvPr id="36" name="Shape 34"/>
          <p:cNvSpPr/>
          <p:nvPr/>
        </p:nvSpPr>
        <p:spPr>
          <a:xfrm>
            <a:off x="2423160" y="2240280"/>
            <a:ext cx="2679192" cy="0"/>
          </a:xfrm>
          <a:prstGeom prst="line">
            <a:avLst/>
          </a:prstGeom>
          <a:noFill/>
          <a:ln w="25400">
            <a:solidFill>
              <a:srgbClr val="FF5D6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02352" y="2176272"/>
            <a:ext cx="109728" cy="128016"/>
          </a:xfrm>
          <a:prstGeom prst="chevron">
            <a:avLst/>
          </a:prstGeom>
          <a:solidFill>
            <a:srgbClr val="FF5D6C"/>
          </a:solidFill>
          <a:ln w="12700">
            <a:solidFill>
              <a:srgbClr val="FF5D6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423160" y="2340864"/>
            <a:ext cx="2788920" cy="2121408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423160" y="2340864"/>
            <a:ext cx="27432" cy="2121408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514600" y="2404872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GRANT CONTROLS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514600" y="2596896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 ONE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514600" y="28346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8346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Multifactor authentication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514600" y="29946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97480" y="29946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Authentication strength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514600" y="31546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697480" y="31546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Compliant device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514600" y="33147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697480" y="33147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Hybrid Azure AD joined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514600" y="347472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697480" y="347472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client app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514600" y="36347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697480" y="36347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protection policy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514600" y="37947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2697480" y="37947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 password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514600" y="39547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2697480" y="39547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Terms of use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5340096" y="1920240"/>
            <a:ext cx="3419856" cy="987552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340096" y="1920240"/>
            <a:ext cx="27432" cy="987552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31536" y="1984248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APPS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5431536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D3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5522976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Include: All cloud apps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340096" y="2980944"/>
            <a:ext cx="3419856" cy="1481328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340096" y="2980944"/>
            <a:ext cx="27432" cy="1481328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431536" y="3044952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 CONTROLS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5431536" y="327355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614416" y="327355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enforced restrictions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5431536" y="340156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5614416" y="340156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 Access App Control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5431536" y="3529584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5614416" y="3529584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Sign-in frequency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431536" y="365760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5614416" y="365760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Persistent browser session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5431536" y="378561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5614416" y="378561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Continuous access evaluation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5431536" y="391363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5614416" y="391363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Disable resilience defaults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5431536" y="404164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5614416" y="404164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 protection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384048" y="4924044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Policy 6 of 12 | ID p-006</a:t>
            </a:r>
            <a:endParaRPr lang="en-US" sz="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8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06440" y="-1097280"/>
            <a:ext cx="4480560" cy="4480560"/>
          </a:xfrm>
          <a:prstGeom prst="ellipse">
            <a:avLst/>
          </a:prstGeom>
          <a:solidFill>
            <a:srgbClr val="06B6D4">
              <a:alpha val="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12280" y="2011680"/>
            <a:ext cx="3566160" cy="3566160"/>
          </a:xfrm>
          <a:prstGeom prst="ellipse">
            <a:avLst/>
          </a:prstGeom>
          <a:solidFill>
            <a:srgbClr val="06B6D4">
              <a:alpha val="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D476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25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84048" y="292608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1F5F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Device registration control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84048" y="9418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Modified: 2025-05-20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040880" y="347472"/>
            <a:ext cx="1719072" cy="329184"/>
          </a:xfrm>
          <a:prstGeom prst="roundRect">
            <a:avLst>
              <a:gd name="adj" fmla="val 22222"/>
            </a:avLst>
          </a:prstGeom>
          <a:solidFill>
            <a:srgbClr val="0B3A35"/>
          </a:solidFill>
          <a:ln w="12700">
            <a:solidFill>
              <a:srgbClr val="22D3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40880" y="41605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D3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ENABLED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4048" y="128016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84048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06B6D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048" y="1444752"/>
            <a:ext cx="22860" cy="40233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Platforms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077517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50669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Locations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150669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3770986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4138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 Apps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844138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5464454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37606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537606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7157923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31075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Devices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231075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84048" y="1920240"/>
            <a:ext cx="1874520" cy="2542032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4048" y="1920240"/>
            <a:ext cx="27432" cy="2542032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" y="19842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D3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66928" y="2194560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Include users: All users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423160" y="1993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D3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Grant access</a:t>
            </a:r>
            <a:endParaRPr lang="en-US" sz="2200" dirty="0"/>
          </a:p>
        </p:txBody>
      </p:sp>
      <p:sp>
        <p:nvSpPr>
          <p:cNvPr id="36" name="Shape 34"/>
          <p:cNvSpPr/>
          <p:nvPr/>
        </p:nvSpPr>
        <p:spPr>
          <a:xfrm>
            <a:off x="2423160" y="2240280"/>
            <a:ext cx="2679192" cy="0"/>
          </a:xfrm>
          <a:prstGeom prst="line">
            <a:avLst/>
          </a:prstGeom>
          <a:noFill/>
          <a:ln w="25400">
            <a:solidFill>
              <a:srgbClr val="22D3A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02352" y="2176272"/>
            <a:ext cx="109728" cy="128016"/>
          </a:xfrm>
          <a:prstGeom prst="chevron">
            <a:avLst/>
          </a:prstGeom>
          <a:solidFill>
            <a:srgbClr val="22D3A6"/>
          </a:solidFill>
          <a:ln w="12700">
            <a:solidFill>
              <a:srgbClr val="22D3A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423160" y="2340864"/>
            <a:ext cx="2788920" cy="2121408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423160" y="2340864"/>
            <a:ext cx="27432" cy="2121408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514600" y="2404872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GRANT CONTROLS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514600" y="2596896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 ALL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514600" y="28346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[x]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8346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Multifactor authentication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514600" y="29946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97480" y="29946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Authentication strength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514600" y="31546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[x]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697480" y="31546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Compliant device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514600" y="33147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697480" y="33147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Hybrid Azure AD joined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514600" y="347472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697480" y="347472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client app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514600" y="36347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697480" y="36347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protection policy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514600" y="37947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2697480" y="37947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 password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514600" y="39547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2697480" y="39547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Terms of use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5340096" y="1920240"/>
            <a:ext cx="3419856" cy="987552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340096" y="1920240"/>
            <a:ext cx="27432" cy="987552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31536" y="1984248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APPS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5431536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5522976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Actions: registerOrJoinDevices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340096" y="2980944"/>
            <a:ext cx="3419856" cy="1481328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340096" y="2980944"/>
            <a:ext cx="27432" cy="1481328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431536" y="3044952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 CONTROLS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5431536" y="327355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614416" y="327355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enforced restrictions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5431536" y="340156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5614416" y="340156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 Access App Control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5431536" y="3529584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5614416" y="3529584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Sign-in frequency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431536" y="365760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5614416" y="365760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Persistent browser session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5431536" y="378561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5614416" y="378561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Continuous access evaluation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5431536" y="391363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5614416" y="391363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Disable resilience defaults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5431536" y="404164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5614416" y="404164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 protection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384048" y="4924044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Policy 7 of 12 | ID p-007</a:t>
            </a:r>
            <a:endParaRPr lang="en-US" sz="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8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06440" y="-1097280"/>
            <a:ext cx="4480560" cy="4480560"/>
          </a:xfrm>
          <a:prstGeom prst="ellipse">
            <a:avLst/>
          </a:prstGeom>
          <a:solidFill>
            <a:srgbClr val="06B6D4">
              <a:alpha val="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12280" y="2011680"/>
            <a:ext cx="3566160" cy="3566160"/>
          </a:xfrm>
          <a:prstGeom prst="ellipse">
            <a:avLst/>
          </a:prstGeom>
          <a:solidFill>
            <a:srgbClr val="06B6D4">
              <a:alpha val="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D476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84048" y="292608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1F5F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Token protection rollout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84048" y="9418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Modified: 2025-08-05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040880" y="347472"/>
            <a:ext cx="1719072" cy="329184"/>
          </a:xfrm>
          <a:prstGeom prst="roundRect">
            <a:avLst>
              <a:gd name="adj" fmla="val 22222"/>
            </a:avLst>
          </a:prstGeom>
          <a:solidFill>
            <a:srgbClr val="4B3812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40880" y="41605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REPORT-ONLY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4048" y="128016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84048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06B6D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048" y="1444752"/>
            <a:ext cx="22860" cy="40233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Platforms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windows, macOS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077517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50669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Locations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150669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3770986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4138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 Apps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844138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5464454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37606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537606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7157923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31075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Devices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231075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84048" y="1920240"/>
            <a:ext cx="1874520" cy="2542032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4048" y="1920240"/>
            <a:ext cx="27432" cy="2542032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" y="19842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D3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66928" y="2194560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Include users: All users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423160" y="1993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D3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Grant access</a:t>
            </a:r>
            <a:endParaRPr lang="en-US" sz="2200" dirty="0"/>
          </a:p>
        </p:txBody>
      </p:sp>
      <p:sp>
        <p:nvSpPr>
          <p:cNvPr id="36" name="Shape 34"/>
          <p:cNvSpPr/>
          <p:nvPr/>
        </p:nvSpPr>
        <p:spPr>
          <a:xfrm>
            <a:off x="2423160" y="2240280"/>
            <a:ext cx="2679192" cy="0"/>
          </a:xfrm>
          <a:prstGeom prst="line">
            <a:avLst/>
          </a:prstGeom>
          <a:noFill/>
          <a:ln w="25400">
            <a:solidFill>
              <a:srgbClr val="22D3A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02352" y="2176272"/>
            <a:ext cx="109728" cy="128016"/>
          </a:xfrm>
          <a:prstGeom prst="chevron">
            <a:avLst/>
          </a:prstGeom>
          <a:solidFill>
            <a:srgbClr val="22D3A6"/>
          </a:solidFill>
          <a:ln w="12700">
            <a:solidFill>
              <a:srgbClr val="22D3A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423160" y="2340864"/>
            <a:ext cx="2788920" cy="2121408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423160" y="2340864"/>
            <a:ext cx="27432" cy="2121408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514600" y="2404872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GRANT CONTROLS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514600" y="2596896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 ALL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514600" y="28346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[x]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8346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Multifactor authentication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514600" y="29946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97480" y="29946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Authentication strength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514600" y="31546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697480" y="31546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Compliant device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514600" y="33147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697480" y="33147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Hybrid Azure AD joined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514600" y="347472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697480" y="347472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client app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514600" y="36347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697480" y="36347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protection policy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514600" y="37947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2697480" y="37947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 password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514600" y="39547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2697480" y="39547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Terms of use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2514600" y="41148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[x]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2697480" y="41148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tokenProtection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5340096" y="1920240"/>
            <a:ext cx="3419856" cy="987552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340096" y="1920240"/>
            <a:ext cx="27432" cy="987552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31536" y="1984248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APPS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5431536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D3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5522976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Include: Office 365 Exchange Online, Microsoft SharePoint Online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5340096" y="2980944"/>
            <a:ext cx="3419856" cy="1481328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340096" y="2980944"/>
            <a:ext cx="27432" cy="1481328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431536" y="3044952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 CONTROLS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5431536" y="327355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5614416" y="327355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enforced restrictions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5431536" y="340156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5614416" y="340156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 Access App Control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431536" y="3529584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5614416" y="3529584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Sign-in frequency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5431536" y="365760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5614416" y="365760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Persistent browser session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5431536" y="378561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[x]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5614416" y="378561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Continuous access evaluation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5431536" y="391363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5614416" y="391363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Disable resilience defaults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5431536" y="404164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5614416" y="404164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 protection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384048" y="4924044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Policy 8 of 12 | ID p-008</a:t>
            </a:r>
            <a:endParaRPr lang="en-US" sz="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8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06440" y="-1097280"/>
            <a:ext cx="4480560" cy="4480560"/>
          </a:xfrm>
          <a:prstGeom prst="ellipse">
            <a:avLst/>
          </a:prstGeom>
          <a:solidFill>
            <a:srgbClr val="06B6D4">
              <a:alpha val="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12280" y="2011680"/>
            <a:ext cx="3566160" cy="3566160"/>
          </a:xfrm>
          <a:prstGeom prst="ellipse">
            <a:avLst/>
          </a:prstGeom>
          <a:solidFill>
            <a:srgbClr val="06B6D4">
              <a:alpha val="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D476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27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84048" y="292608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1F5F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Admin portal geo control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84048" y="9418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Modified: 2025-09-02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040880" y="347472"/>
            <a:ext cx="1719072" cy="329184"/>
          </a:xfrm>
          <a:prstGeom prst="roundRect">
            <a:avLst>
              <a:gd name="adj" fmla="val 22222"/>
            </a:avLst>
          </a:prstGeom>
          <a:solidFill>
            <a:srgbClr val="4B3812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40880" y="41605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REPORT-ONLY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4048" y="128016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84048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Platforms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57200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077517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06B6D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77517" y="1444752"/>
            <a:ext cx="22860" cy="40233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50669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Locations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150669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Exclude: Trusted office networks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3770986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4138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 Apps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844138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5464454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37606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537606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7157923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31075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Devices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231075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84048" y="1920240"/>
            <a:ext cx="1874520" cy="2542032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4048" y="1920240"/>
            <a:ext cx="27432" cy="2542032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" y="19842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D3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66928" y="2194560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Include roles: Global Administrator, Privileged Role Administrator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423160" y="1993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5D6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Block access</a:t>
            </a:r>
            <a:endParaRPr lang="en-US" sz="2200" dirty="0"/>
          </a:p>
        </p:txBody>
      </p:sp>
      <p:sp>
        <p:nvSpPr>
          <p:cNvPr id="36" name="Shape 34"/>
          <p:cNvSpPr/>
          <p:nvPr/>
        </p:nvSpPr>
        <p:spPr>
          <a:xfrm>
            <a:off x="2423160" y="2240280"/>
            <a:ext cx="2679192" cy="0"/>
          </a:xfrm>
          <a:prstGeom prst="line">
            <a:avLst/>
          </a:prstGeom>
          <a:noFill/>
          <a:ln w="25400">
            <a:solidFill>
              <a:srgbClr val="FF5D6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02352" y="2176272"/>
            <a:ext cx="109728" cy="128016"/>
          </a:xfrm>
          <a:prstGeom prst="chevron">
            <a:avLst/>
          </a:prstGeom>
          <a:solidFill>
            <a:srgbClr val="FF5D6C"/>
          </a:solidFill>
          <a:ln w="12700">
            <a:solidFill>
              <a:srgbClr val="FF5D6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423160" y="2340864"/>
            <a:ext cx="2788920" cy="2121408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423160" y="2340864"/>
            <a:ext cx="27432" cy="2121408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514600" y="2404872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GRANT CONTROLS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514600" y="2596896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 ONE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514600" y="28346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8346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Multifactor authentication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514600" y="29946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97480" y="29946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Authentication strength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514600" y="31546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697480" y="31546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Compliant device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514600" y="33147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697480" y="33147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Hybrid Azure AD joined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514600" y="347472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697480" y="347472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client app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514600" y="36347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697480" y="36347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protection policy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514600" y="37947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2697480" y="37947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 password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514600" y="39547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2697480" y="39547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Terms of use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5340096" y="1920240"/>
            <a:ext cx="3419856" cy="987552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340096" y="1920240"/>
            <a:ext cx="27432" cy="987552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31536" y="1984248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APPS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5431536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D3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5522976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Include: Microsoft Admin Portals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340096" y="2980944"/>
            <a:ext cx="3419856" cy="1481328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340096" y="2980944"/>
            <a:ext cx="27432" cy="1481328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431536" y="3044952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 CONTROLS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5431536" y="327355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614416" y="327355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enforced restrictions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5431536" y="340156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5614416" y="340156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 Access App Control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5431536" y="3529584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5614416" y="3529584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Sign-in frequency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431536" y="365760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5614416" y="365760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Persistent browser session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5431536" y="378561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5614416" y="378561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Continuous access evaluation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5431536" y="391363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5614416" y="391363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Disable resilience defaults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5431536" y="404164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5614416" y="404164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 protection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384048" y="4924044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Policy 9 of 12 | ID p-009</a:t>
            </a:r>
            <a:endParaRPr lang="en-US" sz="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8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06440" y="-1097280"/>
            <a:ext cx="4480560" cy="4480560"/>
          </a:xfrm>
          <a:prstGeom prst="ellipse">
            <a:avLst/>
          </a:prstGeom>
          <a:solidFill>
            <a:srgbClr val="06B6D4">
              <a:alpha val="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12280" y="2011680"/>
            <a:ext cx="3566160" cy="3566160"/>
          </a:xfrm>
          <a:prstGeom prst="ellipse">
            <a:avLst/>
          </a:prstGeom>
          <a:solidFill>
            <a:srgbClr val="06B6D4">
              <a:alpha val="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D476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28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84048" y="292608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1F5F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BYOD pilot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84048" y="9418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Modified: 2026-01-16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040880" y="347472"/>
            <a:ext cx="1719072" cy="329184"/>
          </a:xfrm>
          <a:prstGeom prst="roundRect">
            <a:avLst>
              <a:gd name="adj" fmla="val 22222"/>
            </a:avLst>
          </a:prstGeom>
          <a:solidFill>
            <a:srgbClr val="4B3812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40880" y="41605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REPORT-ONLY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4048" y="128016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84048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06B6D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048" y="1444752"/>
            <a:ext cx="22860" cy="40233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Platforms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android, iOS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077517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50669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Locations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150669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3770986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4138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 Apps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844138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5464454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37606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537606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7157923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31075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Devices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231075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84048" y="1920240"/>
            <a:ext cx="1874520" cy="2542032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4048" y="1920240"/>
            <a:ext cx="27432" cy="2542032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" y="19842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D3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66928" y="2194560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Include groups: Mobile Workforce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423160" y="1993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D3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Grant access</a:t>
            </a:r>
            <a:endParaRPr lang="en-US" sz="2200" dirty="0"/>
          </a:p>
        </p:txBody>
      </p:sp>
      <p:sp>
        <p:nvSpPr>
          <p:cNvPr id="36" name="Shape 34"/>
          <p:cNvSpPr/>
          <p:nvPr/>
        </p:nvSpPr>
        <p:spPr>
          <a:xfrm>
            <a:off x="2423160" y="2240280"/>
            <a:ext cx="2679192" cy="0"/>
          </a:xfrm>
          <a:prstGeom prst="line">
            <a:avLst/>
          </a:prstGeom>
          <a:noFill/>
          <a:ln w="25400">
            <a:solidFill>
              <a:srgbClr val="22D3A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02352" y="2176272"/>
            <a:ext cx="109728" cy="128016"/>
          </a:xfrm>
          <a:prstGeom prst="chevron">
            <a:avLst/>
          </a:prstGeom>
          <a:solidFill>
            <a:srgbClr val="22D3A6"/>
          </a:solidFill>
          <a:ln w="12700">
            <a:solidFill>
              <a:srgbClr val="22D3A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423160" y="2340864"/>
            <a:ext cx="2788920" cy="2121408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423160" y="2340864"/>
            <a:ext cx="27432" cy="2121408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514600" y="2404872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GRANT CONTROLS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514600" y="2596896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 ALL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514600" y="28346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[x]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8346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Multifactor authentication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514600" y="29946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97480" y="29946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Authentication strength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514600" y="31546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[x]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697480" y="31546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Compliant device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514600" y="33147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697480" y="33147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Hybrid Azure AD joined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514600" y="347472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697480" y="347472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client app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514600" y="36347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697480" y="36347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protection policy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514600" y="37947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2697480" y="37947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 password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514600" y="39547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2697480" y="39547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Terms of use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5340096" y="1920240"/>
            <a:ext cx="3419856" cy="987552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340096" y="1920240"/>
            <a:ext cx="27432" cy="987552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31536" y="1984248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APPS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5431536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D3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5522976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Include: Office 365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340096" y="2980944"/>
            <a:ext cx="3419856" cy="1481328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340096" y="2980944"/>
            <a:ext cx="27432" cy="1481328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431536" y="3044952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 CONTROLS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5431536" y="3236976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Sign-in frequency: 8 hours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5431536" y="347472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5614416" y="347472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enforced restrictions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5431536" y="360273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5614416" y="360273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 Access App Control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5431536" y="373075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[x]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5614416" y="373075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Sign-in frequency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431536" y="385876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5614416" y="385876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Persistent browser session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5431536" y="3986784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5614416" y="3986784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Continuous access evaluation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5431536" y="411480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5614416" y="411480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Disable resilience defaults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5431536" y="424281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5614416" y="424281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 protection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384048" y="4924044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Policy 10 of 12 | ID p-010</a:t>
            </a:r>
            <a:endParaRPr lang="en-US" sz="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8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06440" y="-1097280"/>
            <a:ext cx="4480560" cy="4480560"/>
          </a:xfrm>
          <a:prstGeom prst="ellipse">
            <a:avLst/>
          </a:prstGeom>
          <a:solidFill>
            <a:srgbClr val="06B6D4">
              <a:alpha val="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12280" y="2011680"/>
            <a:ext cx="3566160" cy="3566160"/>
          </a:xfrm>
          <a:prstGeom prst="ellipse">
            <a:avLst/>
          </a:prstGeom>
          <a:solidFill>
            <a:srgbClr val="06B6D4">
              <a:alpha val="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D476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29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84048" y="292608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1F5F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Phishing-resistant MFA for admins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84048" y="9418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Modified: 2024-12-12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040880" y="347472"/>
            <a:ext cx="1719072" cy="329184"/>
          </a:xfrm>
          <a:prstGeom prst="roundRect">
            <a:avLst>
              <a:gd name="adj" fmla="val 22222"/>
            </a:avLst>
          </a:prstGeom>
          <a:solidFill>
            <a:srgbClr val="4F1E2A"/>
          </a:solidFill>
          <a:ln w="12700">
            <a:solidFill>
              <a:srgbClr val="FF5D6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40880" y="41605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5D6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DISABLED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4048" y="128016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84048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Platforms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57200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077517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50669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Locations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150669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770986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4138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 Apps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844138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464454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37606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537606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7157923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31075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Devices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231075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384048" y="1920240"/>
            <a:ext cx="1874520" cy="2542032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4048" y="1920240"/>
            <a:ext cx="27432" cy="2542032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5488" y="19842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5488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D3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66928" y="2194560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Include roles: Global Administrator, Security Administrator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423160" y="1993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D3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Grant access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2423160" y="2240280"/>
            <a:ext cx="2679192" cy="0"/>
          </a:xfrm>
          <a:prstGeom prst="line">
            <a:avLst/>
          </a:prstGeom>
          <a:noFill/>
          <a:ln w="25400">
            <a:solidFill>
              <a:srgbClr val="22D3A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02352" y="2176272"/>
            <a:ext cx="109728" cy="128016"/>
          </a:xfrm>
          <a:prstGeom prst="chevron">
            <a:avLst/>
          </a:prstGeom>
          <a:solidFill>
            <a:srgbClr val="22D3A6"/>
          </a:solidFill>
          <a:ln w="12700">
            <a:solidFill>
              <a:srgbClr val="22D3A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3160" y="2340864"/>
            <a:ext cx="2788920" cy="2121408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423160" y="2340864"/>
            <a:ext cx="27432" cy="2121408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514600" y="2404872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GRANT CONTROLS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514600" y="2596896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 ALL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514600" y="28346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[x]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697480" y="28346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Multifactor authentication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514600" y="29946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[x]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697480" y="29946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Authentication strength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514600" y="31546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97480" y="31546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Compliant device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514600" y="33147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697480" y="33147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Hybrid Azure AD joined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514600" y="347472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697480" y="347472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client app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514600" y="36347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697480" y="36347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protection policy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514600" y="37947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697480" y="37947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 password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2514600" y="39547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697480" y="39547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Terms of use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5340096" y="1920240"/>
            <a:ext cx="3419856" cy="987552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340096" y="1920240"/>
            <a:ext cx="27432" cy="987552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431536" y="1984248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APPS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431536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D3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5522976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Include: All cloud apps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340096" y="2980944"/>
            <a:ext cx="3419856" cy="1481328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340096" y="2980944"/>
            <a:ext cx="27432" cy="1481328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431536" y="3044952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 CONTROLS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5431536" y="327355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5614416" y="327355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enforced restrictions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5431536" y="340156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5614416" y="340156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 Access App Control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5431536" y="3529584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5614416" y="3529584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Sign-in frequency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5431536" y="365760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5614416" y="365760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Persistent browser session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431536" y="378561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5614416" y="378561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Continuous access evaluation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5431536" y="391363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5614416" y="391363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Disable resilience defaults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5431536" y="404164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5614416" y="404164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 protection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384048" y="4924044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Policy 11 of 12 | ID p-011</a:t>
            </a:r>
            <a:endParaRPr lang="en-US" sz="7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8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06440" y="-1097280"/>
            <a:ext cx="4480560" cy="4480560"/>
          </a:xfrm>
          <a:prstGeom prst="ellipse">
            <a:avLst/>
          </a:prstGeom>
          <a:solidFill>
            <a:srgbClr val="06B6D4">
              <a:alpha val="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12280" y="2011680"/>
            <a:ext cx="3566160" cy="3566160"/>
          </a:xfrm>
          <a:prstGeom prst="ellipse">
            <a:avLst/>
          </a:prstGeom>
          <a:solidFill>
            <a:srgbClr val="06B6D4">
              <a:alpha val="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D476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30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84048" y="292608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1F5F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Require MFA for admins at admin portals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84048" y="9418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Modified: 2024-12-12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040880" y="347472"/>
            <a:ext cx="1719072" cy="329184"/>
          </a:xfrm>
          <a:prstGeom prst="roundRect">
            <a:avLst>
              <a:gd name="adj" fmla="val 22222"/>
            </a:avLst>
          </a:prstGeom>
          <a:solidFill>
            <a:srgbClr val="4F1E2A"/>
          </a:solidFill>
          <a:ln w="12700">
            <a:solidFill>
              <a:srgbClr val="FF5D6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40880" y="41605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5D6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DISABLED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4048" y="128016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84048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Platforms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57200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077517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50669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Locations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150669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770986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4138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 Apps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844138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464454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37606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537606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7157923" y="1444752"/>
            <a:ext cx="1602029" cy="402336"/>
          </a:xfrm>
          <a:prstGeom prst="rect">
            <a:avLst/>
          </a:prstGeom>
          <a:solidFill>
            <a:srgbClr val="13243E"/>
          </a:solidFill>
          <a:ln w="6985">
            <a:solidFill>
              <a:srgbClr val="2D476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31075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Devices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231075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384048" y="1920240"/>
            <a:ext cx="1874520" cy="2542032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4048" y="1920240"/>
            <a:ext cx="27432" cy="2542032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5488" y="19842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5488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D3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66928" y="2194560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Include roles: Global Administrator, Privileged Role Administrator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423160" y="1993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D3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Grant access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2423160" y="2240280"/>
            <a:ext cx="2679192" cy="0"/>
          </a:xfrm>
          <a:prstGeom prst="line">
            <a:avLst/>
          </a:prstGeom>
          <a:noFill/>
          <a:ln w="25400">
            <a:solidFill>
              <a:srgbClr val="22D3A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02352" y="2176272"/>
            <a:ext cx="109728" cy="128016"/>
          </a:xfrm>
          <a:prstGeom prst="chevron">
            <a:avLst/>
          </a:prstGeom>
          <a:solidFill>
            <a:srgbClr val="22D3A6"/>
          </a:solidFill>
          <a:ln w="12700">
            <a:solidFill>
              <a:srgbClr val="22D3A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3160" y="2340864"/>
            <a:ext cx="2788920" cy="2121408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423160" y="2340864"/>
            <a:ext cx="27432" cy="2121408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514600" y="2404872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GRANT CONTROLS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514600" y="2596896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 ONE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514600" y="28346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[x]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697480" y="28346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Multifactor authentication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514600" y="29946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697480" y="29946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Authentication strength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514600" y="31546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97480" y="31546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Compliant device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514600" y="33147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697480" y="33147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Hybrid Azure AD joined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514600" y="347472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697480" y="347472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client app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514600" y="36347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697480" y="36347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protection policy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514600" y="37947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697480" y="37947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 password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2514600" y="39547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697480" y="39547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Terms of use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5340096" y="1920240"/>
            <a:ext cx="3419856" cy="987552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340096" y="1920240"/>
            <a:ext cx="27432" cy="987552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431536" y="1984248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APPS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431536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D3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5522976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CE5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Include: Microsoft Admin Portals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340096" y="2980944"/>
            <a:ext cx="3419856" cy="1481328"/>
          </a:xfrm>
          <a:prstGeom prst="rect">
            <a:avLst/>
          </a:prstGeom>
          <a:solidFill>
            <a:srgbClr val="1C2C47"/>
          </a:solidFill>
          <a:ln w="7620">
            <a:solidFill>
              <a:srgbClr val="2D476D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340096" y="2980944"/>
            <a:ext cx="27432" cy="1481328"/>
          </a:xfrm>
          <a:prstGeom prst="rect">
            <a:avLst/>
          </a:prstGeom>
          <a:solidFill>
            <a:srgbClr val="B4C4DA"/>
          </a:solidFill>
          <a:ln w="12700">
            <a:solidFill>
              <a:srgbClr val="B4C4D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431536" y="3044952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 CONTROLS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5431536" y="327355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5614416" y="327355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enforced restrictions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5431536" y="340156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5614416" y="340156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 Access App Control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5431536" y="3529584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5614416" y="3529584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Sign-in frequency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5431536" y="365760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5614416" y="365760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Persistent browser session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431536" y="378561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5614416" y="378561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Continuous access evaluation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5431536" y="391363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5614416" y="391363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Disable resilience defaults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5431536" y="404164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5614416" y="404164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 protection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384048" y="4924044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F93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Policy 12 of 12 | ID p-012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Northwind Trading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Conditional Access Security Posture Report</dc:title>
  <dc:subject>Conditional Access posture analysis</dc:subject>
  <dc:creator>CA Documenter</dc:creator>
  <cp:lastModifiedBy>CA Documenter</cp:lastModifiedBy>
  <cp:revision>1</cp:revision>
  <dcterms:created xsi:type="dcterms:W3CDTF">2026-04-10T02:17:27Z</dcterms:created>
  <dcterms:modified xsi:type="dcterms:W3CDTF">2026-04-10T02:17:27Z</dcterms:modified>
</cp:coreProperties>
</file>