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389120" cy="438912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011680"/>
            <a:ext cx="3474720" cy="34747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243A5A">
              <a:alpha val="85000"/>
            </a:srgbClr>
          </a:solidFill>
          <a:ln w="3175">
            <a:solidFill>
              <a:srgbClr val="24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0B3A35">
              <a:alpha val="85000"/>
            </a:srgbClr>
          </a:solidFill>
          <a:ln w="3175">
            <a:solidFill>
              <a:srgbClr val="0B3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B3812">
              <a:alpha val="85000"/>
            </a:srgbClr>
          </a:solidFill>
          <a:ln w="3175">
            <a:solidFill>
              <a:srgbClr val="4B38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4F1E2A">
              <a:alpha val="85000"/>
            </a:srgbClr>
          </a:solidFill>
          <a:ln w="3175">
            <a:solidFill>
              <a:srgbClr val="4F1E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report is structured for executive decisions first, evidence second, appendix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18872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score, trend signal, and policy status distribution.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Scorecard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State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Assessment summary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36576" cy="123444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actions that reduce risk quickly in the next quarter.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Top priorities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- 90-day roadmap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606040"/>
            <a:ext cx="36576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evidence across MFA, risk, geography, and privileged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Control evidence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overlap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Recommendation detail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296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2606040"/>
            <a:ext cx="36576" cy="12344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inventory and per-policy detail for audit and implementation.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Policy-level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posture combines policy enforcement state and current recommendation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2000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243A5A"/>
          </a:solidFill>
          <a:ln w="6350">
            <a:solidFill>
              <a:srgbClr val="24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C4D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0B3A35"/>
          </a:solidFill>
          <a:ln w="6350">
            <a:solidFill>
              <a:srgbClr val="0B3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B3812"/>
          </a:solidFill>
          <a:ln w="6350">
            <a:solidFill>
              <a:srgbClr val="4B38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4444"/>
            </a:avLst>
          </a:prstGeom>
          <a:solidFill>
            <a:srgbClr val="4F1E2A"/>
          </a:solidFill>
          <a:ln w="6350">
            <a:solidFill>
              <a:srgbClr val="4F1E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 + takeaway + evidence format is used across all sections.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2743200"/>
          </a:xfrm>
          <a:prstGeom prst="rect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1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097280"/>
            <a:ext cx="36576" cy="274320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actions represent the highest leverage improvements for the next review cycle.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920240"/>
            <a:ext cx="36576" cy="731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500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36576" cy="731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items are immediate risk reducers. Mid-term items sustain posture improvements.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097280"/>
            <a:ext cx="36576" cy="301752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1212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097280"/>
            <a:ext cx="36576" cy="30175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8375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Supporting 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2651760"/>
            <a:ext cx="3566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landscape | Geo strategy | MFA matrix | Risk controls | Auth strengths | PIM | Report-only | MS-managed overlap |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12 policies are enforced. 3 remain in report-only mode.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11765"/>
            </a:avLst>
          </a:prstGeom>
          <a:solidFill>
            <a:srgbClr val="22D3A6"/>
          </a:solidFill>
          <a:ln w="1270">
            <a:solidFill>
              <a:srgbClr val="22D3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177393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792224"/>
            <a:ext cx="1028700" cy="155448"/>
          </a:xfrm>
          <a:prstGeom prst="roundRect">
            <a:avLst>
              <a:gd name="adj" fmla="val 11765"/>
            </a:avLst>
          </a:prstGeom>
          <a:solidFill>
            <a:srgbClr val="FBBF24"/>
          </a:solidFill>
          <a:ln w="127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0340" y="1773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112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2130552"/>
            <a:ext cx="685800" cy="155448"/>
          </a:xfrm>
          <a:prstGeom prst="roundRect">
            <a:avLst>
              <a:gd name="adj" fmla="val 11765"/>
            </a:avLst>
          </a:prstGeom>
          <a:solidFill>
            <a:srgbClr val="FF5D6C"/>
          </a:solidFill>
          <a:ln w="127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112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4116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14116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3844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3844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44184" y="257860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44184" y="257860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26426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86207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14116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14116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3844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23844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44184" y="3813048"/>
            <a:ext cx="2715768" cy="1097280"/>
          </a:xfrm>
          <a:prstGeom prst="roundRect">
            <a:avLst>
              <a:gd name="adj" fmla="val 333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44184" y="3813048"/>
            <a:ext cx="36576" cy="10972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38770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53912" y="40965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42032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3810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48456"/>
            <a:ext cx="36576" cy="96012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 strength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Frequency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Conditions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Trusted locations excluded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Built-in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days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locations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Remote workforce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secure MFA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Every sign-in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VPN and high-value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B3812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1356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2697480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6154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435608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275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907792"/>
            <a:ext cx="36576" cy="132588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role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Eligible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coverage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Privileged Role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PIM auth context 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Administrator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direct role-targeted policy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1639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 control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 apps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Exchange + SharePoint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constraint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access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+ Compliant device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158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MS-managed 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does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equivalent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Overlap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custom equivalent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 legacy authentication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5556"/>
            </a:avLst>
          </a:prstGeom>
          <a:solidFill>
            <a:srgbClr val="4F1E2A"/>
          </a:solidFill>
          <a:ln w="10160">
            <a:solidFill>
              <a:srgbClr val="FF5D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435608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965960"/>
            <a:ext cx="36576" cy="493776"/>
          </a:xfrm>
          <a:prstGeom prst="rect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496312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026664"/>
            <a:ext cx="36576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7407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557016"/>
            <a:ext cx="36576" cy="49377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8000"/>
            </a:avLst>
          </a:prstGeom>
          <a:solidFill>
            <a:srgbClr val="243A5A"/>
          </a:solidFill>
          <a:ln w="10160">
            <a:solidFill>
              <a:srgbClr val="B4C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C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613"/>
            </a:avLst>
          </a:prstGeom>
          <a:solidFill>
            <a:srgbClr val="1C2C47"/>
          </a:solidFill>
          <a:ln w="9525">
            <a:solidFill>
              <a:srgbClr val="2D476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Policy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summary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Modified</a:t>
                      </a:r>
                      <a:endParaRPr lang="en-US" sz="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4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authentication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2025-03-04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2025-04-18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MFA - Privileged roles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2025-06-01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Users - High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2024-11-19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Risky Sign-ins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2025-01-10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Geolocation catch-all 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2025-02-14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registration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2025-05-20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Token protection rollout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2025-08-05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 portal geo control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2025-09-02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BYOD pilot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Report-only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2026-01-16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All cloud apps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C4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Disabled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Grant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Apps: Microsoft Admin Portals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CE5F1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2024-12-12</a:t>
                      </a:r>
                      <a:endParaRPr lang="en-US" sz="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D47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4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43E"/>
          </a:solidFill>
          <a:ln w="12700">
            <a:solidFill>
              <a:srgbClr val="1324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142E"/>
          </a:solidFill>
          <a:ln w="12700">
            <a:solidFill>
              <a:srgbClr val="0814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Detail Appendix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policy detail slides (active controls only).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0986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431536" y="376994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76994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431536" y="387313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87313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431536" y="397633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397633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431536" y="407953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07953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431536" y="418272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614416" y="418272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5431536" y="428592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5614416" y="4285923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431536" y="376994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76994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431536" y="387313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87313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431536" y="397633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397633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431536" y="407953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07953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431536" y="418272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18272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431536" y="428592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614416" y="4285923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25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26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0B3A35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27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130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1302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2725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27253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320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320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5915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591560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7510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510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39105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1058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0700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07009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514600" y="4229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97480" y="422960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28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77517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FF5D6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29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B38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380744"/>
            <a:ext cx="22860" cy="40233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42900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6667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66674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431536" y="376994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76994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431536" y="387313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87313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431536" y="397633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3976334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431536" y="407953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07953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431536" y="418272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182727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431536" y="428592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614416" y="4285923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868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2161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380744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356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0020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856232"/>
            <a:ext cx="1874520" cy="2606040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856232"/>
            <a:ext cx="27432" cy="2606040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20240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3055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0025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286000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221992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459736"/>
            <a:ext cx="2788920" cy="2002536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459736"/>
            <a:ext cx="27432" cy="2002536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23744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715768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9535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5351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3132963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32963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14600" y="331241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241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349186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91865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14600" y="36713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7131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514600" y="3850767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850767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514600" y="403021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3021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514600" y="420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4209669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40096" y="1856232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1856232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192024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13055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130552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172968"/>
            <a:ext cx="3419856" cy="128930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172968"/>
            <a:ext cx="27432" cy="128930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6557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614416" y="346557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31536" y="359751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59751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31536" y="372944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729446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31536" y="3861381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86138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431536" y="399331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399331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431536" y="412525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12525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431536" y="4257185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257185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97280"/>
            <a:ext cx="4480560" cy="4480560"/>
          </a:xfrm>
          <a:prstGeom prst="ellipse">
            <a:avLst/>
          </a:prstGeom>
          <a:solidFill>
            <a:srgbClr val="06B6D4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2011680"/>
            <a:ext cx="3566160" cy="3566160"/>
          </a:xfrm>
          <a:prstGeom prst="ellipse">
            <a:avLst/>
          </a:prstGeom>
          <a:solidFill>
            <a:srgbClr val="06B6D4">
              <a:alpha val="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D4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92608"/>
            <a:ext cx="6181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10789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256032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4F1E2A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32461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D6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42646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77517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0669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50669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70986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591056"/>
            <a:ext cx="1602029" cy="402336"/>
          </a:xfrm>
          <a:prstGeom prst="rect">
            <a:avLst/>
          </a:prstGeom>
          <a:solidFill>
            <a:srgbClr val="13243E"/>
          </a:solidFill>
          <a:ln w="6985">
            <a:solidFill>
              <a:srgbClr val="2D47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645920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810512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066544"/>
            <a:ext cx="1874520" cy="2395728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2066544"/>
            <a:ext cx="27432" cy="2395728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13055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34086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2128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2423160" y="2496312"/>
            <a:ext cx="2679192" cy="0"/>
          </a:xfrm>
          <a:prstGeom prst="line">
            <a:avLst/>
          </a:prstGeom>
          <a:noFill/>
          <a:ln w="25400">
            <a:solidFill>
              <a:srgbClr val="22D3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02352" y="2432304"/>
            <a:ext cx="109728" cy="128016"/>
          </a:xfrm>
          <a:prstGeom prst="chevron">
            <a:avLst/>
          </a:prstGeom>
          <a:solidFill>
            <a:srgbClr val="22D3A6"/>
          </a:solidFill>
          <a:ln w="12700">
            <a:solidFill>
              <a:srgbClr val="22D3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670048"/>
            <a:ext cx="2788920" cy="179222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670048"/>
            <a:ext cx="27432" cy="179222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73405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9260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31638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316382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31698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31698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4701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4701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62331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623310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77647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776472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92963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929634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408279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408279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423595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423595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340096" y="2066544"/>
            <a:ext cx="3419856" cy="1243584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0096" y="2066544"/>
            <a:ext cx="27432" cy="1243584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31536" y="21305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3408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522976" y="234086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CE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40096" y="3383280"/>
            <a:ext cx="3419856" cy="1078992"/>
          </a:xfrm>
          <a:prstGeom prst="rect">
            <a:avLst/>
          </a:prstGeom>
          <a:solidFill>
            <a:srgbClr val="1C2C47"/>
          </a:solidFill>
          <a:ln w="7620">
            <a:solidFill>
              <a:srgbClr val="2D476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40096" y="3383280"/>
            <a:ext cx="27432" cy="1078992"/>
          </a:xfrm>
          <a:prstGeom prst="rect">
            <a:avLst/>
          </a:prstGeom>
          <a:solidFill>
            <a:srgbClr val="B4C4DA"/>
          </a:solidFill>
          <a:ln w="12700">
            <a:solidFill>
              <a:srgbClr val="B4C4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31536" y="34472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F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6758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614416" y="367588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enforced restrictions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5431536" y="377777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5614416" y="377777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Access App Control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5431536" y="387966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5614416" y="3879669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Sign-in frequency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431536" y="398155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14416" y="3981559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browser session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5431536" y="408344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614416" y="4083449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access evaluation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5431536" y="4185339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614416" y="4185339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resilience defaults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5431536" y="428723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5614416" y="428723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protection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Documenter</dc:creator>
  <cp:lastModifiedBy>CA Documenter</cp:lastModifiedBy>
  <cp:revision>1</cp:revision>
  <dcterms:created xsi:type="dcterms:W3CDTF">2026-04-10T01:44:46Z</dcterms:created>
  <dcterms:modified xsi:type="dcterms:W3CDTF">2026-04-10T01:44:46Z</dcterms:modified>
</cp:coreProperties>
</file>